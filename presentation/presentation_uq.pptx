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4" y="7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2ECA1-299B-49ED-8C1D-C459DA45786F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D2CE8-48E1-4A1E-9456-474EC1CB6D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929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D2CE8-48E1-4A1E-9456-474EC1CB6DB3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92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16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Uncertainty Quantification for
GNN Surrogates of Agent-Based Transport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65BD"/>
                </a:solidFill>
              </a:rPr>
              <a:t>Mohd Zamin Quadri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8585A"/>
                </a:solidFill>
              </a:rPr>
              <a:t>TUM School of Computation, Information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8585A"/>
                </a:solidFill>
              </a:rPr>
              <a:t>Advisors: Dominik Fuchsgruber, M.Sc.  &amp;  Elena Natterer, M.Sc.
Supervisor: Prof. Dr. Stephan Günnemann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916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58585A"/>
                </a:solidFill>
              </a:rPr>
              <a:t>Master's Thesis 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7607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UQ Methods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0744"/>
            <a:ext cx="5760720" cy="488289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dirty="0">
                <a:solidFill>
                  <a:srgbClr val="000000"/>
                </a:solidFill>
              </a:rPr>
              <a:t>P1  Ranking Uncertainty</a:t>
            </a:r>
          </a:p>
          <a:p>
            <a:pPr algn="l"/>
            <a:r>
              <a:rPr sz="1200" dirty="0">
                <a:solidFill>
                  <a:srgbClr val="000000"/>
                </a:solidFill>
              </a:rPr>
              <a:t>     • MC Dropout</a:t>
            </a:r>
          </a:p>
          <a:p>
            <a:pPr algn="l"/>
            <a:r>
              <a:rPr sz="1200" dirty="0">
                <a:solidFill>
                  <a:srgbClr val="000000"/>
                </a:solidFill>
              </a:rPr>
              <a:t>     • Selective Prediction</a:t>
            </a:r>
          </a:p>
          <a:p>
            <a:pPr algn="l"/>
            <a:r>
              <a:rPr sz="1200" dirty="0">
                <a:solidFill>
                  <a:srgbClr val="000000"/>
                </a:solidFill>
              </a:rPr>
              <a:t>     • Error Detection (AUROC)</a:t>
            </a:r>
          </a:p>
          <a:p>
            <a:pPr algn="l"/>
            <a:endParaRPr sz="1200" dirty="0">
              <a:solidFill>
                <a:srgbClr val="000000"/>
              </a:solidFill>
            </a:endParaRPr>
          </a:p>
          <a:p>
            <a:pPr algn="l"/>
            <a:r>
              <a:rPr sz="1200" dirty="0">
                <a:solidFill>
                  <a:srgbClr val="000000"/>
                </a:solidFill>
              </a:rPr>
              <a:t>P2  Calibration</a:t>
            </a:r>
          </a:p>
          <a:p>
            <a:pPr algn="l"/>
            <a:r>
              <a:rPr sz="1200" dirty="0">
                <a:solidFill>
                  <a:srgbClr val="000000"/>
                </a:solidFill>
              </a:rPr>
              <a:t>     • Why Gaussian intervals fail</a:t>
            </a:r>
          </a:p>
          <a:p>
            <a:pPr algn="l"/>
            <a:r>
              <a:rPr sz="1200" dirty="0">
                <a:solidFill>
                  <a:srgbClr val="000000"/>
                </a:solidFill>
              </a:rPr>
              <a:t>     • Temperature Scaling</a:t>
            </a:r>
          </a:p>
          <a:p>
            <a:pPr algn="l"/>
            <a:r>
              <a:rPr sz="1200" dirty="0">
                <a:solidFill>
                  <a:srgbClr val="000000"/>
                </a:solidFill>
              </a:rPr>
              <a:t>     • PIT + NLL</a:t>
            </a:r>
          </a:p>
          <a:p>
            <a:pPr algn="l"/>
            <a:endParaRPr sz="1200" dirty="0">
              <a:solidFill>
                <a:srgbClr val="000000"/>
              </a:solidFill>
            </a:endParaRPr>
          </a:p>
          <a:p>
            <a:pPr algn="l"/>
            <a:r>
              <a:rPr sz="1200" dirty="0">
                <a:solidFill>
                  <a:srgbClr val="000000"/>
                </a:solidFill>
              </a:rPr>
              <a:t>P3  Coverage Guarantees</a:t>
            </a:r>
          </a:p>
          <a:p>
            <a:pPr algn="l"/>
            <a:r>
              <a:rPr sz="1200" dirty="0">
                <a:solidFill>
                  <a:srgbClr val="000000"/>
                </a:solidFill>
              </a:rPr>
              <a:t>     • Global Conformal Prediction</a:t>
            </a:r>
          </a:p>
          <a:p>
            <a:pPr algn="l"/>
            <a:r>
              <a:rPr sz="1200" dirty="0">
                <a:solidFill>
                  <a:srgbClr val="000000"/>
                </a:solidFill>
              </a:rPr>
              <a:t>     • Adaptive Conformal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51560"/>
            <a:ext cx="57607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Further Experiments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80744"/>
            <a:ext cx="5760720" cy="369417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P4  Ensemble Experiments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   • Exp A: Same architecture, 5 seeds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   • Exp B: Multi-architecture ensemble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P5  Negative Results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   • Trial 7: Cross-validation replication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   • Trial 9: Heteroscedastic NLL (failure)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P6  Summary &amp;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5166360"/>
            <a:ext cx="57607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Total: 13 UQ experiments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5495544"/>
            <a:ext cx="5760720" cy="72237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All evaluated on Trial 8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Best GATConv model: R² = 0.596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Test set: 100 graphs · 3.16M road-segment nodes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 dirty="0">
                <a:solidFill>
                  <a:srgbClr val="FFFFFF"/>
                </a:solidFill>
              </a:rPr>
              <a:t>Motivation: Why Do We Need Uncertainty Quantification?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7607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The Problem with Point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0744"/>
            <a:ext cx="5760720" cy="113385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Model predicts:  Δflow = −3.2 veh/hr  on road segment i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 traffic planner acts on this number.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But HOW RELIABLE is this prediction?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624328"/>
            <a:ext cx="57607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Two road segments, same predicted value: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53512"/>
            <a:ext cx="5760720" cy="117957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Segment A: model has seen many similar cases  ✓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Segment B: unusual geometry, out-of-distribution  ✗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 point prediction cannot distinguish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76072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What UQ provides: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80744"/>
            <a:ext cx="5760720" cy="287121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000000"/>
                </a:solidFill>
              </a:rPr>
              <a:t>Output              Value      Use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─────────────────────────────────────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Point pred. ŷ      −3.2       Forecast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Uncertainty σ       0.4       Trust score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Interval        [−13.2, 6.8]  Hard bound</a:t>
            </a:r>
          </a:p>
          <a:p>
            <a:pPr algn="l"/>
            <a:endParaRPr sz="1150">
              <a:solidFill>
                <a:srgbClr val="000000"/>
              </a:solidFill>
            </a:endParaRPr>
          </a:p>
          <a:p>
            <a:pPr algn="l"/>
            <a:r>
              <a:rPr sz="1150">
                <a:solidFill>
                  <a:srgbClr val="000000"/>
                </a:solidFill>
              </a:rPr>
              <a:t>Goal: Make the model say not just WHAT it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predicts, but HOW CONFIDENT it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 dirty="0">
                <a:solidFill>
                  <a:srgbClr val="FFFFFF"/>
                </a:solidFill>
              </a:rPr>
              <a:t>UQ Framework: Three Levels of Uncertainty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6868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Question answered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1.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Which predictions are least reliable?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MC Dropout 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1. Ranking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Can we improve quality by abstaining?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Selective Prediction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1.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Can σ detect large errors?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Error Detection (AUROC)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2. Calibration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Are confidence scores accurate?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Temperature Scaling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2.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Are probability distributions correct?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PIT, NLL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3. Guarantee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Guaranteed coverage interval?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Global Conformal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3.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Conditional coverage interval?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00000"/>
                          </a:solidFill>
                        </a:rPr>
                        <a:t>Adaptive Conformal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006840" y="1097280"/>
            <a:ext cx="29718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Key Insight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6840" y="1426464"/>
            <a:ext cx="2971800" cy="200253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Each level adds value: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  Ranking   → operational  (decide when to trust)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  Calibration → diagnostic  (is σ meaningful?)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  Guarantee  → formal       (provable bound)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6840" y="3547872"/>
            <a:ext cx="29718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40" y="3877056"/>
            <a:ext cx="2971800" cy="104241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dirty="0">
                <a:solidFill>
                  <a:srgbClr val="000000"/>
                </a:solidFill>
              </a:rPr>
              <a:t>Trial 8: </a:t>
            </a:r>
            <a:r>
              <a:rPr sz="1100" dirty="0" err="1">
                <a:solidFill>
                  <a:srgbClr val="000000"/>
                </a:solidFill>
              </a:rPr>
              <a:t>PointNet</a:t>
            </a:r>
            <a:r>
              <a:rPr sz="1100" dirty="0">
                <a:solidFill>
                  <a:srgbClr val="000000"/>
                </a:solidFill>
              </a:rPr>
              <a:t> + Transformer + </a:t>
            </a:r>
            <a:r>
              <a:rPr sz="1100" dirty="0" err="1">
                <a:solidFill>
                  <a:srgbClr val="000000"/>
                </a:solidFill>
              </a:rPr>
              <a:t>GATConv</a:t>
            </a:r>
            <a:endParaRPr sz="1100" dirty="0">
              <a:solidFill>
                <a:srgbClr val="000000"/>
              </a:solidFill>
            </a:endParaRPr>
          </a:p>
          <a:p>
            <a:pPr algn="l"/>
            <a:r>
              <a:rPr sz="1100" dirty="0">
                <a:solidFill>
                  <a:srgbClr val="000000"/>
                </a:solidFill>
              </a:rPr>
              <a:t>R² = 0.596,  MC S = 30</a:t>
            </a:r>
          </a:p>
          <a:p>
            <a:pPr algn="l"/>
            <a:r>
              <a:rPr sz="1100" dirty="0">
                <a:solidFill>
                  <a:srgbClr val="000000"/>
                </a:solidFill>
              </a:rPr>
              <a:t>Test: 100 graphs,  3.16M 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MC Dropout: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1: Ranking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7607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Standard Dropout (Training)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0744"/>
            <a:ext cx="5760720" cy="72237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Randomly zero out neurons during training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→ acts as regularisation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12848"/>
            <a:ext cx="57607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MC Dropout (Inference) — Gal &amp; Ghahramani 2016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42032"/>
            <a:ext cx="5760720" cy="213969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KEEP dropout active at test time.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Run S = 30 forward passes.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  ŷ = (1/S) Σ f_θs(x)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σ = std deviation across S passes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σ = epistemic uncertainty proxy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800599"/>
            <a:ext cx="576072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129783"/>
            <a:ext cx="5760720" cy="81381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High σ → model disagrees with itself → LESS reliable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Low  σ → model is consistent        → MORE reliable</a:t>
            </a:r>
          </a:p>
        </p:txBody>
      </p:sp>
      <p:pic>
        <p:nvPicPr>
          <p:cNvPr id="12" name="Picture 11" descr="uncertainty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51560"/>
            <a:ext cx="5623560" cy="39856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5074920"/>
            <a:ext cx="5623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8585A"/>
                </a:solidFill>
              </a:rPr>
              <a:t>Distribution of σ across 3.16M test nodes.
Heavy right tail = small fraction of hard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MC Dropout: Results — Is σ Informative?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1: Ranking Uncertainty</a:t>
            </a:r>
          </a:p>
        </p:txBody>
      </p:sp>
      <p:pic>
        <p:nvPicPr>
          <p:cNvPr id="6" name="Picture 5" descr="binned_error_vs_uncertai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94960" cy="3823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206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8585A"/>
                </a:solidFill>
              </a:rPr>
              <a:t>MAE increases monotonically with uncertainty bins.
This is the key diagnostic for ranking validity.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59893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Point Accuracy: Deterministic vs MC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80744"/>
            <a:ext cx="5989320" cy="204825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000000"/>
                </a:solidFill>
              </a:rPr>
              <a:t>Mode                R²      MAE    RMSE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────────────────────────────────────────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Deterministic      0.5957  3.96   7.12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MC Dropout (S=30)  0.5857  3.95   7.21</a:t>
            </a:r>
          </a:p>
          <a:p>
            <a:pPr algn="l"/>
            <a:endParaRPr sz="1150">
              <a:solidFill>
                <a:srgbClr val="000000"/>
              </a:solidFill>
            </a:endParaRPr>
          </a:p>
          <a:p>
            <a:pPr algn="l"/>
            <a:r>
              <a:rPr sz="1150">
                <a:solidFill>
                  <a:srgbClr val="000000"/>
                </a:solidFill>
              </a:rPr>
              <a:t>Accuracy is comparable.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MC Dropout adds σ at marginal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538728"/>
            <a:ext cx="59893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Ranking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867912"/>
            <a:ext cx="5989320" cy="209397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Spearman ρ = 0.482  between σ and |error|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Moderate-to-strong correlation.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σ reliably identifies harder predictions.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Note: σ is a ranking signal, NOT a calibrated probability.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Selective Prediction: Abstaining on Uncertain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1: Ranking Uncertainty</a:t>
            </a:r>
          </a:p>
        </p:txBody>
      </p:sp>
      <p:pic>
        <p:nvPicPr>
          <p:cNvPr id="6" name="Picture 5" descr="risk_coverag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94960" cy="35709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206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8585A"/>
                </a:solidFill>
              </a:rPr>
              <a:t>MAE drops as we reject the most uncertain predictions.
X-axis = fraction of predictions retained.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59893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80744"/>
            <a:ext cx="5989320" cy="108813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Sort all 3.16M predictions by σ (descending).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Reject top-k% most uncertain.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Measure MAE on remaining predictions.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578608"/>
            <a:ext cx="59893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07792"/>
            <a:ext cx="5989320" cy="200253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Retained   MAE (veh/hr)   Reduction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100% (baseline)   3.94      —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90%              3.22    −18.5%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50%              2.31    −41.6%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25%              1.77    −55.0%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5020056"/>
            <a:ext cx="598932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Practical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349240"/>
            <a:ext cx="5989320" cy="99669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A planner can choose a confidence threshold.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At 90% retention: nearly 1-in-5 improvement in accuracy.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σ is operationally useful, not just diagnostic.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Error Detection: Can σ Flag Large Errors?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1: Ranking Uncertainty</a:t>
            </a:r>
          </a:p>
        </p:txBody>
      </p:sp>
      <p:pic>
        <p:nvPicPr>
          <p:cNvPr id="6" name="Picture 5" descr="hexbin_uncertainty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94960" cy="19129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206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8585A"/>
                </a:solidFill>
              </a:rPr>
              <a:t>Joint density of σ vs. absolute error.
High-error nodes (right) have elevated σ (top).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59893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Binary Detection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80744"/>
            <a:ext cx="5989320" cy="117957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Positive class: predictions in top-10% of errors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Score: MC Dropout σ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Question: Does high σ predict high error?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670048"/>
            <a:ext cx="59893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AUROC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99232"/>
            <a:ext cx="5989320" cy="181965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Threshold      AUROC    AUPRC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Top-10% errors  0.759    0.315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Top-20% errors  0.740    0.455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Random baseline 0.500    0.100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4928616"/>
            <a:ext cx="598932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257800"/>
            <a:ext cx="5989320" cy="99669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AUROC = 0.759: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σ ranks a bad prediction above a good one 75.9% of the time.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52% above random baseline — strong discrimination.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Why Naïve Gaussian Intervals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2: Calibration</a:t>
            </a:r>
          </a:p>
        </p:txBody>
      </p:sp>
      <p:pic>
        <p:nvPicPr>
          <p:cNvPr id="6" name="Picture 5" descr="coverage_curve_k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94960" cy="3823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206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8585A"/>
                </a:solidFill>
              </a:rPr>
              <a:t>Empirical coverage vs. multiplier k.
Dashed = Gaussian ideal. Actual coverage far below.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59893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Gaussian Assumption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80744"/>
            <a:ext cx="5989320" cy="108813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Build interval: ŷ ± k·σ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Assume σ is a calibrated standard deviation.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k = 1.65  →  90% coverage  (under Gaussian).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578608"/>
            <a:ext cx="59893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Reality: Severe Under-coverage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07792"/>
            <a:ext cx="5989320" cy="200253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Nominal   k       Actual coverage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50%     0.67       23.3%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80%     1.28       40.1%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90%     1.65       48.6%   ← 90% target!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95%     1.96       54.8%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5020056"/>
            <a:ext cx="598932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Root Cause: Heavy-Tailed Residuals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349240"/>
            <a:ext cx="5989320" cy="99669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Empirical k₉₅ = 11.34   vs.   Gaussian z₉₅ = 1.96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Ratio = 5.79×  heavier tails than Gaussian.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σ is a ranking signal, NOT a calibrated std dev.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Temperature Scaling: Calibrating Confidence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2: Calibration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Method (Guo et al., 2017)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0744"/>
            <a:ext cx="5943600" cy="241401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A single learnable scalar T scales the uncertainties: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   σ_cal = T · σ_raw,   T &gt; 0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T is fitted on a held-out calibration set (minimise ECE or NLL).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  T &gt; 1 : model was overconfident  → inflate σ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T &lt; 1 : model was underconfident → shrink σ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T = 1 : already perfectly calibrated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04488"/>
            <a:ext cx="59436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Trial 8 Result:  T = 2.70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233672"/>
            <a:ext cx="5943600" cy="81381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Model was SEVERELY overconfident.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Scaling inflated σ by factor 2.70.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051560"/>
            <a:ext cx="548640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Calibration Improvement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80744"/>
            <a:ext cx="5486400" cy="181965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Metric     Before   After    Change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ECE         0.269   0.048    −82%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NLL        21.65    4.75     −78%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KS (PIT)    0.245   0.104    −57%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310128"/>
            <a:ext cx="54864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Residual 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639312"/>
            <a:ext cx="5486400" cy="159105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Even after scaling, slight overconfidence persists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at high prediction magnitudes (large |Δflow|).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→ Motivates Conformal Prediction which gives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hard guarantees without distributional assumptions.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Calibration Diagnostics: PIT and NLL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2: Calibration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PIT — Probability Integral Transform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0744"/>
            <a:ext cx="5943600" cy="287121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If predictions ŷ ~ N(μ̂, σ̂²) are correct,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the PIT values  u_i = Φ((y_i − μ̂_i) / σ̂_i)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should be  Uniform[0,1].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Kolmogorov-Smirnov statistic measures deviation: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 KS = sup_u | F_empirical(u) − u |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Raw MC:              KS = 0.245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After scaling (T=2.70): KS = 0.104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Improvement:             −57%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51560"/>
            <a:ext cx="54864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NLL — Negative Log-Likelihood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80744"/>
            <a:ext cx="5486400" cy="236829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Measures how well the predicted distribution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covers the true targets: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NLL = mean_i [ (y_i−μ̂_i)² / (2σ̂_i²) + ½ log σ̂_i² ]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Raw MC:       NLL = 21.65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After scaling: NLL =  4.75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Improvement:       −78%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3858768"/>
            <a:ext cx="54864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Summary of Calibration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4187952"/>
            <a:ext cx="5486400" cy="163677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ECE:    −82% after T = 2.70 scaling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PIT/KS: −57%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NLL:    −78%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All three metrics agree: SUBSTANTIAL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Conformal Prediction: Distribution-Free Coverage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3: Coverage Guarantees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Core Idea (Vovk et al., 2005)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0744"/>
            <a:ext cx="5943600" cy="351129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No assumptions about residual distribution.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Only requires: calibration &amp; test data are EXCHANGEABLE.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Procedure: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1. Split test nodes into calibration (50%) and evaluation (50%)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2. Compute residuals on calibration: r_i = |y_i − ŷ_i|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3. Compute empirical quantile at level 1−α: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    q_α = Quantile_{1−α}({ r_i }_{i ∈ D_cal})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4. Prediction interval for new point:   ŷ ± q_α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51560"/>
            <a:ext cx="54864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Formal Guarantee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80744"/>
            <a:ext cx="5486400" cy="177393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P( y ∈ [ŷ − q_α, ŷ + q_α] ) ≥ 1 − α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This holds REGARDLESS of the error distribution.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No Gaussian assumption.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No calibration quality assumption.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3264408"/>
            <a:ext cx="54864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Important Caveat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593592"/>
            <a:ext cx="5486400" cy="136245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This is MARGINAL coverage — an average over all nodes.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Per-node conditional coverage is not guaranteed without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additional methods (e.g., conformalized quantile regression).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5065775"/>
            <a:ext cx="548640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Why better than Gaussian?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5394959"/>
            <a:ext cx="5486400" cy="85953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Gaussian: assumes σ is calibrated. It is NOT.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Conformal: uses empirical residuals. NO assumption.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Global Conformal Prediction: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3: Coverage Guarantees</a:t>
            </a:r>
          </a:p>
        </p:txBody>
      </p:sp>
      <p:pic>
        <p:nvPicPr>
          <p:cNvPr id="6" name="Picture 5" descr="coverag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94960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206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8585A"/>
                </a:solidFill>
              </a:rPr>
              <a:t>Conformal (blue) achieves nominal coverage.
Gaussian kσ (red) severely under-covers.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59893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Coverage at Nominal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80744"/>
            <a:ext cx="5989320" cy="227685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Target   q (half-width)   Coverage   Width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50%        1.87           50.35%     3.75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80%        5.97           80.34%    11.94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90%        9.99           90.17%    19.99  ← used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95%       14.77           95.09%    29.54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All widths in veh/hr.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767328"/>
            <a:ext cx="59893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Key Comparison  (at 90% target)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096512"/>
            <a:ext cx="5989320" cy="117957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Gaussian kσ:     actual coverage = 48.6%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Global Conformal: actual coverage = 90.17%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Difference: +41.6 percentage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5385816"/>
            <a:ext cx="598932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715000"/>
            <a:ext cx="5989320" cy="63093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For 1,000 road segments, conformal guarantees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≈900 have true Δflow inside the interval.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Adaptive Conformal Prediction: Uncertainty-Scaled Intervals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3: Coverage Guarantees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Limitation of Global Conformal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0744"/>
            <a:ext cx="5943600" cy="113385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Fixed width q_α for ALL predictions.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Confident predictions get the same wide interval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as uncertain 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24328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Adaptive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53512"/>
            <a:ext cx="5943600" cy="259689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Scale interval by MC Dropout σ: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   r_i_scaled = |y_i − ŷ_i| / (σ_i + ε)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Compute quantile q_α_adapt on scaled residuals.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Final interval: ŷ ± q_α_adapt · σ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  Narrow where σ is small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Wide   where σ is large</a:t>
            </a:r>
          </a:p>
        </p:txBody>
      </p:sp>
      <p:pic>
        <p:nvPicPr>
          <p:cNvPr id="10" name="Picture 9" descr="interval_widt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486400" cy="19256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8585A"/>
                </a:solidFill>
              </a:rPr>
              <a:t>Adaptive intervals adapt width to local uncertainty.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617720"/>
            <a:ext cx="54864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Conditional Coverage Improvement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946904"/>
            <a:ext cx="5486400" cy="204825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σ bin      Global    Adaptive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Low  σ      62.9%     90.0%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High σ      98.6%     96.2%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Overall     90.2%     90.1%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Adaptive narrows the conditional coverage spread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from [62.9%, 98.6%]  to  [90.0%, 96.2%].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Ensemble Experiment A: Same Architecture, 5 Random Seeds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4: Ensemble Experiments</a:t>
            </a:r>
          </a:p>
        </p:txBody>
      </p:sp>
      <p:pic>
        <p:nvPicPr>
          <p:cNvPr id="6" name="Picture 5" descr="exp_a_mc_vs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9496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206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8585A"/>
                </a:solidFill>
              </a:rPr>
              <a:t>MC Dropout σ vs. ensemble variance as uncertainty proxies.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59893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80744"/>
            <a:ext cx="5989320" cy="117957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5 instances of Trial 8, each trained with a different random seed.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Ensemble variance = variance across 5 model predictions.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Compare to MC Dropout σ from single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670048"/>
            <a:ext cx="59893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Results: Spearman ρ for uncertainty ranking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99232"/>
            <a:ext cx="5989320" cy="145389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Method              Spearman ρ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MC Dropout σ           0.491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Ensemble Variance      0.307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4562856"/>
            <a:ext cx="59893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Why ensemble variance is weaker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892040"/>
            <a:ext cx="5989320" cy="149961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Same architecture + same training data → CORRELATED errors.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Models fail TOGETHER on the same hard nodes.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Ensemble variance does not capture cases where all models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are simultaneously wrong.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MC Dropout with single model outperforms same-arch ensemble.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Ensemble Experiment B: Multi-Architecture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4: Ensemble Experiments</a:t>
            </a:r>
          </a:p>
        </p:txBody>
      </p:sp>
      <p:pic>
        <p:nvPicPr>
          <p:cNvPr id="6" name="Picture 5" descr="exp_b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94960" cy="3236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206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8585A"/>
                </a:solidFill>
              </a:rPr>
              <a:t>Individual trial R² vs. weighted ensemble R².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59893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80744"/>
            <a:ext cx="5989320" cy="108813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Weighted ensemble of 5 architecturally distinct trials: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T2 + T5 + T6 + T7 + T8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Weights proportional to individual R².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578608"/>
            <a:ext cx="59893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Result: Ensemble Underperforms Single Best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07792"/>
            <a:ext cx="5989320" cy="200253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Method                  R²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Trial 8 alone (best)   0.596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Multi-arch ensemble    0.566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Ensemble uncertainty Spearman ρ = 0.433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vs. MC Dropout ρ = 0.491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5020056"/>
            <a:ext cx="598932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Lesson: Why ensembles can 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349240"/>
            <a:ext cx="5989320" cy="108813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• Weaker models DILUTE the best model's signal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All trained on same 1,000 scenarios → correlated predictions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Ensemble diversity requires DATA diversity,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not just architecture diversity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Trial 7: Cross-Validation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5: Negative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0744"/>
            <a:ext cx="5943600" cy="117957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Trial 8 uses an 80/10/10 split with 100 test graphs.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Trial 7 uses the same split but different hyperparameters.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Goal: verify UQ patterns are not artefacts of Trial 8's specific test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70048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Trial 7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99232"/>
            <a:ext cx="5943600" cy="145389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Architecture: GATConv (same as T8)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Dropout: 0.3 (higher than T8's 0.2)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Test graphs: 100,  LR: 0.0006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R² = 0.547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051560"/>
            <a:ext cx="54864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Key UQ Metrics — T7 vs T8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80744"/>
            <a:ext cx="5486400" cy="181965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Metric            T8       T7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Spearman ρ       0.482    0.446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k₉₅             11.34   16.15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Conformal q₉₀    9.99    higher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310128"/>
            <a:ext cx="54864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639312"/>
            <a:ext cx="5486400" cy="177393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• Pattern REPLICATED: MC Dropout still informative (ρ = 0.446)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k₉₅ = 16.15 vs T8's 11.34: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higher dropout = more uncertainty spread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Gaussian intervals even more miscalibrated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Confirms findings are model-independent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Trial 9: Heteroscedastic NLL — A Negative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11823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8C6EA"/>
                </a:solidFill>
              </a:rPr>
              <a:t>Part 5: Negative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0744"/>
            <a:ext cx="5943600" cy="236829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Instead of post-hoc UQ (MC Dropout), train the model to output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both mean AND variance directly.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Final layer: GATConv(64 → 2) outputs [μ̂, log σ̂²]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Loss (Kendall &amp; Gal, 2017):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 L = mean_i [ (y_i−μ̂_i)²/(2σ̂_i²) + ½ log σ̂_i² ]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858768"/>
            <a:ext cx="59436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Result: R² = 0.02 — Near-Total Failure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87952"/>
            <a:ext cx="5943600" cy="44805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The model learned to predict, but made completely unreliable predictions.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051560"/>
            <a:ext cx="54864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Root Cause: Variance Inflation (Seitzer et al., 2022)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80744"/>
            <a:ext cx="5486400" cy="236829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The NLL loss has a shortcut: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If σ̂² → ∞, the first term → 0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regardless of μ̂.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The model learned to INFLATE σ̂² to minimise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loss WITHOUT improving μ̂.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858768"/>
            <a:ext cx="548640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Lesson &amp;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187952"/>
            <a:ext cx="5486400" cy="209397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• Standard heteroscedastic NLL is INSUFFICIENT for this task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Fix requires: variance head constraints,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evidential deep learning (Amini et al., 2020),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or decoupled mean/variance training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Post-hoc UQ (MC Dropout + Conformal) is more robust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All UQ Experiments: Complete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51560"/>
          <a:ext cx="10287000" cy="5568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Key Result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MC Dropout (S=30)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Spearman ρ = 0.482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✓ Useful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Gaussian kσ intervals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90% nominal → 48.6% actual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✗ Miscalibrated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Temperature Scaling (T=2.70)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ECE −82%, NLL −78%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✓ Calibrates 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PIT Diagnostic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KS 0.245 → 0.104 (−57%)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✓ Confirms T.S.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NLL Diagnostic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21.65 → 4.75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✓ Confirms T.S.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Global Conformal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90.02% @ 90% target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✓ Guaranteed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Adaptive Conformal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Conditional [90%, 96.2%]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✓ Better cond.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Selective Prediction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−41.6% MAE @ 50% retain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✓ Actionable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Error Detection (AUROC)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AUROC = 0.759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✓ Detects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Ensemble Exp A (5 seeds)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ρ = 0.307 &lt; MC's 0.491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✗ Correlated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Ensemble Exp B (multi-arch)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R² = 0.566 &lt; T8's 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✗ Diluted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Trial 7 Replication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ρ = 0.446, pattern holds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✓ Cross-validated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Trial 9 Heteroscedastic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R² = 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✗ Var. inflation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Three-Level UQ Hierarchy: Final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657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Level 1: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26464"/>
            <a:ext cx="3657600" cy="378561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"Which predictions to trust less?"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MC Dropout:     ρ = 0.482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AUROC:          0.759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Selective: −41.6% MAE at 50%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Use: Flag unreliable roads before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deploying model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097280"/>
            <a:ext cx="3657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Level 2: Calibration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426464"/>
            <a:ext cx="3657600" cy="378561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"Are confidence scores accurate?"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Temp. Scaling T = 2.70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ECE: −82%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NLL: −78%,  PIT KS: −57%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Use: Meaningful probability statements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on individual predictions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97280"/>
            <a:ext cx="3657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Level 3: Guarantee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26464"/>
            <a:ext cx="3657600" cy="378561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"Hard provable bounds?"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Global conformal: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90.02% at 90%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95.09% at 95%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Adaptive: conditional [90%, 96.2%]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Use: Worst-case planning for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high-stakes decisions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760720"/>
            <a:ext cx="11640312" cy="32004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57607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← Increasing formal rigour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85216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UQ-Specific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0744"/>
            <a:ext cx="5852160" cy="488289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000000"/>
                </a:solidFill>
              </a:rPr>
              <a:t>• Marginal vs. conditional coverage: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Conformal guarantees hold on AVERAGE over all nodes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— not per individual node</a:t>
            </a:r>
          </a:p>
          <a:p>
            <a:pPr algn="l"/>
            <a:endParaRPr sz="1150">
              <a:solidFill>
                <a:srgbClr val="000000"/>
              </a:solidFill>
            </a:endParaRPr>
          </a:p>
          <a:p>
            <a:pPr algn="l"/>
            <a:r>
              <a:rPr sz="1150">
                <a:solidFill>
                  <a:srgbClr val="000000"/>
                </a:solidFill>
              </a:rPr>
              <a:t>• Calibration uses test split: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Test pool was split 50/50 for conformal calibration.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Standard practice but worth noting.</a:t>
            </a:r>
          </a:p>
          <a:p>
            <a:pPr algn="l"/>
            <a:endParaRPr sz="1150">
              <a:solidFill>
                <a:srgbClr val="000000"/>
              </a:solidFill>
            </a:endParaRPr>
          </a:p>
          <a:p>
            <a:pPr algn="l"/>
            <a:r>
              <a:rPr sz="1150">
                <a:solidFill>
                  <a:srgbClr val="000000"/>
                </a:solidFill>
              </a:rPr>
              <a:t>• MC Dropout σ is epistemic only: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Does not capture aleatoric (data) uncertainty</a:t>
            </a:r>
          </a:p>
          <a:p>
            <a:pPr algn="l"/>
            <a:endParaRPr sz="1150">
              <a:solidFill>
                <a:srgbClr val="000000"/>
              </a:solidFill>
            </a:endParaRPr>
          </a:p>
          <a:p>
            <a:pPr algn="l"/>
            <a:r>
              <a:rPr sz="1150">
                <a:solidFill>
                  <a:srgbClr val="000000"/>
                </a:solidFill>
              </a:rPr>
              <a:t>• Heavy computational cost: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MC Dropout (S=30): ~228 min vs. deterministic ~3.4 min (67× overhead)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051560"/>
            <a:ext cx="585216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Model &amp; Data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80744"/>
            <a:ext cx="5852160" cy="488289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000000"/>
                </a:solidFill>
              </a:rPr>
              <a:t>• Data scarcity: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1,000 of 10,000 available MATSim scenarios (10% subset)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Best GATConv model: R²=0.596 vs. Elena's R²=0.78 at 10,000 scenarios</a:t>
            </a:r>
          </a:p>
          <a:p>
            <a:pPr algn="l"/>
            <a:endParaRPr sz="1150">
              <a:solidFill>
                <a:srgbClr val="000000"/>
              </a:solidFill>
            </a:endParaRPr>
          </a:p>
          <a:p>
            <a:pPr algn="l"/>
            <a:r>
              <a:rPr sz="1150">
                <a:solidFill>
                  <a:srgbClr val="000000"/>
                </a:solidFill>
              </a:rPr>
              <a:t>• Architecture gap: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Trial 1 (Linear head) achieves R²=0.786 — bottleneck may be in GATConv</a:t>
            </a:r>
          </a:p>
          <a:p>
            <a:pPr algn="l"/>
            <a:endParaRPr sz="1150">
              <a:solidFill>
                <a:srgbClr val="000000"/>
              </a:solidFill>
            </a:endParaRPr>
          </a:p>
          <a:p>
            <a:pPr algn="l"/>
            <a:r>
              <a:rPr sz="1150">
                <a:solidFill>
                  <a:srgbClr val="000000"/>
                </a:solidFill>
              </a:rPr>
              <a:t>• Single city: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All results on Paris network. Generalisation to other cities untested.</a:t>
            </a:r>
          </a:p>
          <a:p>
            <a:pPr algn="l"/>
            <a:endParaRPr sz="1150">
              <a:solidFill>
                <a:srgbClr val="000000"/>
              </a:solidFill>
            </a:endParaRPr>
          </a:p>
          <a:p>
            <a:pPr algn="l"/>
            <a:r>
              <a:rPr sz="1150">
                <a:solidFill>
                  <a:srgbClr val="000000"/>
                </a:solidFill>
              </a:rPr>
              <a:t>• Heteroscedastic approach failed: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  Trial 9 R²=0.02. Native uncertainty prediction requires future work.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What Was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0744"/>
            <a:ext cx="5943600" cy="488289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• Applied 13 UQ experiments on a GNN surrogate for Paris traffic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• Showed that MC Dropout provides a useful uncertainty signal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(ρ = 0.482, AUROC = 0.759)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• Demonstrated that Conformal Prediction gives hard coverage guarantees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(90.02% at 90% target) where Gaussian methods fail (48.6%)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• Selective prediction delivers actionable accuracy gains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(−41.6% MAE at 50% retention)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• Identified NEGATIVE results: ensemble failure due to correlation;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heteroscedastic NLL failure due to variance inflation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051560"/>
            <a:ext cx="548640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Key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380744"/>
            <a:ext cx="5486400" cy="314553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Metric                            Value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────────────────────────────────────────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MC Dropout Spearman ρ             0.482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Conformal coverage @ 90%         90.02%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Adaptive conditional range      90–96.2%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Selective MAE (50% retain)       −41.6%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Error detection AUROC             0.759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ECE improvement (Temp. Scaling)   −82%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Temperature scaling T             2.70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4636008"/>
            <a:ext cx="54864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Core Message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965192"/>
            <a:ext cx="5486400" cy="127101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000000"/>
                </a:solidFill>
              </a:rPr>
              <a:t>A model that knows what it doesn't know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is more useful than a more accurate model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that doesn't.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Appendix A: Why k₉₅ = 11.34 Instead of 1.96?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Empirical k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0744"/>
            <a:ext cx="5943600" cy="227685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Let k_p be the value such that exactly p% of test residuals satisfy: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 |y_i − ŷ_i| ≤ k_p · σ_i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Under Gaussian assumptions: k₉₅ = z₀.₉₇₅ = 1.96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Under our heavy-tailed residuals: k₉₅ = 11.34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Ratio = 11.34 / 1.96 = 5.79 ×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767328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What This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96512"/>
            <a:ext cx="5943600" cy="127101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The residuals are much larger relative to σ than Gaussian predicts.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σ UNDERESTIMATES the spread of true errors by a factor of ~6.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This is why ŷ ± 1.96σ only covers 54.8% rather than 95%.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051560"/>
            <a:ext cx="548640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Why Heavy Tails?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80744"/>
            <a:ext cx="5486400" cy="250545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• σ captures EPISTEMIC uncertainty (model disagreement)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True residuals also contain ALEATORIC uncertainty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(data noise, unseen disruptions)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MC Dropout σ has no mechanism to estimate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aleatoric uncertainty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Therefore σ systematically underestimates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  total uncertainty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995928"/>
            <a:ext cx="54864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T7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325112"/>
            <a:ext cx="5486400" cy="177393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Trial 7 (dropout=0.3) has k₉₅ = 16.15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Higher dropout → more stochastic → larger σ...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but residuals grow even faster.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Conformal bypasses this entirely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by using empirical residuals.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Appendix B: Why Conformal Coverage is Guaranteed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Exchangeability Assumption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0744"/>
            <a:ext cx="5943600" cy="181965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Let (X₁,Y₁), …, (Xₙ,Yₙ), (Xₙ₊₁,Yₙ₊₁) be EXCHANGEABLE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— any permutation of indices has the same joint distribution.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This holds when calibration and test data are i.i.d. draws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from the same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310128"/>
            <a:ext cx="594360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Proof Sketch (Angelopoulos &amp; Bates, 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639312"/>
            <a:ext cx="5943600" cy="250545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The calibration residuals r₁, …, rₙ and the test residual rₙ₊₁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are exchangeable.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Therefore rₙ₊₁ is equally likely to be in any rank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among {r₁, …, rₙ, rₙ₊₁}.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P(rₙ₊₁ ≤ q_α) ≥ 1−α follows directly from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order statistics of exchangeable variables.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051560"/>
            <a:ext cx="548640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Finite-Sample Guarantee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80744"/>
            <a:ext cx="5486400" cy="218541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With n calibration points: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  P(Y ∈ C(X)) ≥ 1 − α − 1/(n+1)</a:t>
            </a:r>
          </a:p>
          <a:p>
            <a:pPr algn="l"/>
            <a:endParaRPr sz="1200">
              <a:solidFill>
                <a:srgbClr val="000000"/>
              </a:solidFill>
            </a:endParaRPr>
          </a:p>
          <a:p>
            <a:pPr algn="l"/>
            <a:r>
              <a:rPr sz="1200">
                <a:solidFill>
                  <a:srgbClr val="000000"/>
                </a:solidFill>
              </a:rPr>
              <a:t>For n = 1,581,750 (50% of test nodes):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The correction term 1/(n+1) ≈ 6×10⁻⁷ is negligible.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675888"/>
            <a:ext cx="5486400" cy="329184"/>
          </a:xfrm>
          <a:prstGeom prst="rect">
            <a:avLst/>
          </a:prstGeom>
          <a:solidFill>
            <a:srgbClr val="007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No Distributional Assumptions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005072"/>
            <a:ext cx="5486400" cy="1773936"/>
          </a:xfrm>
          <a:prstGeom prst="rect">
            <a:avLst/>
          </a:prstGeom>
          <a:solidFill>
            <a:srgbClr val="E1F5E6"/>
          </a:solidFill>
          <a:ln w="9525">
            <a:solidFill>
              <a:srgbClr val="00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000000"/>
                </a:solidFill>
              </a:rPr>
              <a:t>• Works for any model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Works for any residual distribution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Works whether or not the model is well-calibrated</a:t>
            </a:r>
          </a:p>
          <a:p>
            <a:pPr algn="l"/>
            <a:r>
              <a:rPr sz="1200">
                <a:solidFill>
                  <a:srgbClr val="000000"/>
                </a:solidFill>
              </a:rPr>
              <a:t>• Only fails if exchangeability is violated (covariate shift)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5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655624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8C6EA"/>
                </a:solidFill>
              </a:rPr>
              <a:t>Mohd Zamin Quadri  |  TUM CIT  |  Master's Thesis Defence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Appendix C: All Trial Results Overview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9189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T#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Architecture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Key Change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006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Baseline, bs=32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2.97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5.40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GATConv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First GATConv, bs=16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80/15/5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0.512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4.33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8.15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GATConv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Weighted loss, no 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5.99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GATConv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Weighted loss + dropout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80/15/5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0.243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6.08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10.15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GATConv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Paper config, bs=8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4.24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7.78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GATConv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Lower LR (0.0003)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80/15/5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0.522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4.32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8.06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GATConv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80/10/10, LR=0.0006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4.06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7.53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GATConv ★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Lower dropout (0.2)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80/10/10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0.596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3.96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7.12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Heteroscedastic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NLL loss, output [μ, σ²]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80/10/10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349240"/>
            <a:ext cx="5760720" cy="329184"/>
          </a:xfrm>
          <a:prstGeom prst="rect">
            <a:avLst/>
          </a:prstGeom>
          <a:solidFill>
            <a:srgbClr val="C4071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Note on Trial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678424"/>
            <a:ext cx="5760720" cy="996696"/>
          </a:xfrm>
          <a:prstGeom prst="rect">
            <a:avLst/>
          </a:prstGeom>
          <a:solidFill>
            <a:srgbClr val="FFEBEB"/>
          </a:solidFill>
          <a:ln w="9525">
            <a:solidFill>
              <a:srgbClr val="C40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000000"/>
                </a:solidFill>
              </a:rPr>
              <a:t>T1 uses LINEAR final layer — architecturally distinct from T2–T8 (GATConv).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T1 R²=0.786 is not directly comparable.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Best GATConv model = T8, R²=0.596.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5349240"/>
            <a:ext cx="5577840" cy="329184"/>
          </a:xfrm>
          <a:prstGeom prst="rect">
            <a:avLst/>
          </a:prstGeom>
          <a:solidFill>
            <a:srgbClr val="0065B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Elena's Reference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5678424"/>
            <a:ext cx="5577840" cy="996696"/>
          </a:xfrm>
          <a:prstGeom prst="rect">
            <a:avLst/>
          </a:prstGeom>
          <a:solidFill>
            <a:srgbClr val="EBF5FF"/>
          </a:solidFill>
          <a:ln w="9525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000000"/>
                </a:solidFill>
              </a:rPr>
              <a:t>Natterer et al. achieved R²=0.78 with 10,000 scenarios (10× more data).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Our T8 uses only 1,000 scenarios (10% subset).</a:t>
            </a:r>
          </a:p>
          <a:p>
            <a:pPr algn="l"/>
            <a:r>
              <a:rPr sz="1150">
                <a:solidFill>
                  <a:srgbClr val="000000"/>
                </a:solidFill>
              </a:rPr>
              <a:t>Data gap explains most of the R² difference.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4035</Words>
  <Application>Microsoft Office PowerPoint</Application>
  <PresentationFormat>Custom</PresentationFormat>
  <Paragraphs>690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MOHD ZAMIN QUADRI</cp:lastModifiedBy>
  <cp:revision>2</cp:revision>
  <dcterms:created xsi:type="dcterms:W3CDTF">2013-01-27T09:14:16Z</dcterms:created>
  <dcterms:modified xsi:type="dcterms:W3CDTF">2026-03-30T20:13:49Z</dcterms:modified>
  <cp:category/>
</cp:coreProperties>
</file>