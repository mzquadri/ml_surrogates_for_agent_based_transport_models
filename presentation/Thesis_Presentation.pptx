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438" y="13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007F1-E67E-468F-8D17-B2D5F9CEA6DA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115F8-B435-49A7-A4C9-50F4DD9B8C2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5616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115F8-B435-49A7-A4C9-50F4DD9B8C27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96185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194560"/>
          </a:xfrm>
          <a:prstGeom prst="rect">
            <a:avLst/>
          </a:prstGeom>
          <a:solidFill>
            <a:srgbClr val="0E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ML Surrogates for Agent-Based Transport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D6E8F7"/>
                </a:solidFill>
              </a:rPr>
              <a:t>Uncertainty Quantification for GNN-Based Traffic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AACCEE"/>
                </a:solidFill>
              </a:rPr>
              <a:t>Thesis Defence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8F7"/>
                </a:solidFill>
              </a:rPr>
              <a:t>Supervisors: Dominik Natterer  |  Elena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AACC"/>
                </a:solidFill>
              </a:rPr>
              <a:t>Paris MATSim Dataset  •  1,000 Scenarios  •  31,635 Road Segments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AACC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Why do we need an ML surrogate?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2</a:t>
            </a:r>
          </a:p>
        </p:txBody>
      </p:sp>
      <p:pic>
        <p:nvPicPr>
          <p:cNvPr id="9" name="Picture 8" descr="fig11_thesis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498079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7150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1. Overall thesis pipeline: MATSim simulations → GNN surrogate → uncertainty-guided decisions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143000"/>
            <a:ext cx="3931920" cy="2103120"/>
          </a:xfrm>
          <a:prstGeom prst="rect">
            <a:avLst/>
          </a:prstGeom>
          <a:solidFill>
            <a:srgbClr val="FFF0E8"/>
          </a:solidFill>
          <a:ln w="19050">
            <a:solidFill>
              <a:srgbClr val="E0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7020"/>
                </a:solidFill>
              </a:rPr>
              <a:t>Without Surrogate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50876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</a:rPr>
              <a:t>• 1 MATSim scenario = 8+ hours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</a:rPr>
              <a:t>• Policy testing = weeks of compute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</a:rPr>
              <a:t>• Very few alternatives evaluated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3383280"/>
            <a:ext cx="3931920" cy="2103120"/>
          </a:xfrm>
          <a:prstGeom prst="rect">
            <a:avLst/>
          </a:prstGeom>
          <a:solidFill>
            <a:srgbClr val="E8F5EC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48"/>
                </a:solidFill>
              </a:rPr>
              <a:t>With GNN Surrogate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749039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</a:rPr>
              <a:t>• 1 scenario = seconds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</a:rPr>
              <a:t>• BUT: needs uncertainty estimates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</a:rPr>
              <a:t>• When can we trust the output?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4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760720" cy="2377440"/>
          </a:xfrm>
          <a:prstGeom prst="rect">
            <a:avLst/>
          </a:prstGeom>
          <a:solidFill>
            <a:srgbClr val="E8F0FA"/>
          </a:solidFill>
          <a:ln w="22860">
            <a:solidFill>
              <a:srgbClr val="26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66BB2"/>
                </a:solidFill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234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MC Dropout Effectiveness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How well does MC Dropout capture epistemic uncertainty in GNN traffic surrogates?
(measured by Spearman ρ between predicted σ and actual error)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79" y="1143000"/>
            <a:ext cx="5760720" cy="2377440"/>
          </a:xfrm>
          <a:prstGeom prst="rect">
            <a:avLst/>
          </a:prstGeom>
          <a:solidFill>
            <a:srgbClr val="E8F5EC"/>
          </a:solidFill>
          <a:ln w="2286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2344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8648"/>
                </a:solidFill>
              </a:rPr>
              <a:t>RQ2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234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MC Dropout vs Ensembles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2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How does MC Dropout compare to ensemble-based UQ in terms of uncertainty quality and computational efficiency?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49039"/>
            <a:ext cx="5760720" cy="2377440"/>
          </a:xfrm>
          <a:prstGeom prst="rect">
            <a:avLst/>
          </a:prstGeom>
          <a:solidFill>
            <a:srgbClr val="FFF8E1"/>
          </a:solidFill>
          <a:ln w="22860">
            <a:solidFill>
              <a:srgbClr val="E0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84047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8000"/>
                </a:solidFill>
              </a:rPr>
              <a:t>RQ3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40479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Combining Identical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51959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Does combining uncertainty from architecturally identical models help? What role does diversity play?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79" y="3749039"/>
            <a:ext cx="5760720" cy="2377440"/>
          </a:xfrm>
          <a:prstGeom prst="rect">
            <a:avLst/>
          </a:prstGeom>
          <a:solidFill>
            <a:srgbClr val="FCE8E8"/>
          </a:solidFill>
          <a:ln w="22860">
            <a:solidFill>
              <a:srgbClr val="C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84047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2828"/>
                </a:solidFill>
              </a:rPr>
              <a:t>RQ4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840479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Distribution-Free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51959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Can conformal prediction &amp; temperature scaling transform raw uncertainty into trustworthy intervals with formal coverage guarantees?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 &amp;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Paris MATSim Road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4</a:t>
            </a:r>
          </a:p>
        </p:txBody>
      </p:sp>
      <p:pic>
        <p:nvPicPr>
          <p:cNvPr id="9" name="Picture 8" descr="fig_network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943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2. Paris road network as directed graph. Coral nodes = capacity-reduced segments. Each node = one road segment. Target: Δv = volume change (veh/h).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143000"/>
            <a:ext cx="3474720" cy="32918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966960" y="1143000"/>
            <a:ext cx="1965960" cy="329184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1795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Road segments (nodes)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117957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31,635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527048"/>
            <a:ext cx="3474720" cy="32918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966960" y="1527048"/>
            <a:ext cx="1965960" cy="329184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15636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Network edges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56362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~85,000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911095"/>
            <a:ext cx="3474720" cy="32918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966960" y="1911095"/>
            <a:ext cx="1965960" cy="329184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9476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Scenarios 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194767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1,000 (10% of 10,000)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295144"/>
            <a:ext cx="3474720" cy="32918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966960" y="2295144"/>
            <a:ext cx="1965960" cy="329184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2331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Training scenarios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3317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800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679191"/>
            <a:ext cx="3474720" cy="32918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966960" y="2679191"/>
            <a:ext cx="1965960" cy="329184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2715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Validation scenarios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7157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100 (T7-T8)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063239"/>
            <a:ext cx="3474720" cy="32918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966960" y="3063239"/>
            <a:ext cx="1965960" cy="329184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309981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Test scenarios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099815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100 (T7-T8)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447287"/>
            <a:ext cx="3474720" cy="32918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966960" y="3447287"/>
            <a:ext cx="1965960" cy="329184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348386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Total test predictions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483863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3,163,500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3831335"/>
            <a:ext cx="3474720" cy="32918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966960" y="3831335"/>
            <a:ext cx="1965960" cy="329184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0" y="386791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GPU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86791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NVIDIA T4 (Colab)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352544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A3A5C"/>
                </a:solidFill>
              </a:rPr>
              <a:t>5 Input Features per node: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</a:rPr>
              <a:t>• VOL_BASE_CASE  • CAPACITY_BASE_CASE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</a:rPr>
              <a:t>• CAPACITY_REDUCTION  • FREESPEED  • LENGTH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GNN Architecture: PointNetTransfGAT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6-layer graph neural network for node-level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5</a:t>
            </a:r>
          </a:p>
        </p:txBody>
      </p:sp>
      <p:pic>
        <p:nvPicPr>
          <p:cNvPr id="9" name="Picture 8" descr="fig8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132320" cy="4754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8521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3. PointNetTransfGAT: PointNetConv (geometry) → TransformerConv (attention) → GATConv (output). Input: 5 features per node. Output: Δv per node (veh/h).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143000"/>
            <a:ext cx="914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0" y="1234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1143000"/>
            <a:ext cx="3337560" cy="51206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11612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PointNetConv-1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3990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Start-point geometry encoding  [5 → 512]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709928"/>
            <a:ext cx="914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18013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1709928"/>
            <a:ext cx="3337560" cy="51206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41080" y="172821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PointNetConv-2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9659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End-point geometry encoding  [512 → 128]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276856"/>
            <a:ext cx="914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23682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276856"/>
            <a:ext cx="3337560" cy="51206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41080" y="22951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TransformerConv-1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5328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4-head attention  [128 → 256]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2843784"/>
            <a:ext cx="914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0" y="29352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Stage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9640" y="2843784"/>
            <a:ext cx="3337560" cy="51206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41080" y="2862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TransformerConv-2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09981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4-head attention  [256 → 512]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3410712"/>
            <a:ext cx="914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0" y="35021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Stage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9640" y="3410712"/>
            <a:ext cx="3337560" cy="51206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41080" y="34290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GATConv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366674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Neighbourhood aggregation  [512 → 64]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3977640"/>
            <a:ext cx="914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4069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Stage 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9640" y="3977640"/>
            <a:ext cx="3337560" cy="51206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41080" y="39959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GATConv (final)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42336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Scalar prediction (T2-T8)  [64 → 1]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463600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7020"/>
                </a:solidFill>
              </a:rPr>
              <a:t>Dropout applied in PointNetConv &amp; TransformerConv layers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8 Training Trials: Performance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Best model = T8 (R² = 0.5957)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6</a:t>
            </a:r>
          </a:p>
        </p:txBody>
      </p:sp>
      <p:pic>
        <p:nvPicPr>
          <p:cNvPr id="9" name="Picture 8" descr="fig1_tri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3218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4. R², MAE, RMSE across Trials 2–8. T8 achieves best R²=0.5957, MAE=3.96 veh/h among UQ-compatible trials.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097280"/>
            <a:ext cx="82296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42631" y="115214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097280"/>
            <a:ext cx="6858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1" y="115214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097280"/>
            <a:ext cx="6858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42832" y="115214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097280"/>
            <a:ext cx="82296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74352" y="115214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Dropout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0" y="1097280"/>
            <a:ext cx="9144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43032" y="115214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UQ?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463040"/>
            <a:ext cx="82296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42631" y="151790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T1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1463040"/>
            <a:ext cx="6858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1311" y="151790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0.786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400" y="1463040"/>
            <a:ext cx="6858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42832" y="151790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2.97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1463040"/>
            <a:ext cx="82296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74352" y="151790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0" y="1463040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43032" y="15179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1828800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42631" y="18836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T2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1828800"/>
            <a:ext cx="685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11311" y="188366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0.512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1828800"/>
            <a:ext cx="685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42832" y="188366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4.33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1828800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18836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15600" y="1828800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543032" y="188366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partial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2194560"/>
            <a:ext cx="82296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42631" y="224942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T3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79" y="2194560"/>
            <a:ext cx="6858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11311" y="224942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0.225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15400" y="2194560"/>
            <a:ext cx="6858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42832" y="224942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5.99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2194560"/>
            <a:ext cx="82296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74352" y="224942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15600" y="2194560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543032" y="224942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2560320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42631" y="261518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T4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83879" y="2560320"/>
            <a:ext cx="685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11311" y="261518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0.243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15400" y="2560320"/>
            <a:ext cx="685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942832" y="261518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6.08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20" y="2560320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674352" y="261518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515600" y="2560320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543032" y="261518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0" y="2926079"/>
            <a:ext cx="82296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42631" y="298094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T5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83879" y="2926079"/>
            <a:ext cx="6858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11311" y="298094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0.555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15400" y="2926079"/>
            <a:ext cx="6858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942832" y="298094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4.24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46920" y="2926079"/>
            <a:ext cx="82296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674352" y="298094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15600" y="2926079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543032" y="298094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0" y="3291839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342631" y="3346703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T6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83879" y="3291839"/>
            <a:ext cx="685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211311" y="3346703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0.522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15400" y="3291839"/>
            <a:ext cx="685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942832" y="3346703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4.32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46920" y="3291839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674352" y="3346703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15600" y="3291839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543032" y="3346703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0" y="3657599"/>
            <a:ext cx="82296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342631" y="3712463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T7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83879" y="3657599"/>
            <a:ext cx="6858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211311" y="3712463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0.547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15400" y="3657599"/>
            <a:ext cx="6858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942832" y="3712463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4.06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46920" y="3657599"/>
            <a:ext cx="82296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674352" y="3712463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515600" y="3657599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543032" y="3712463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0" y="4023359"/>
            <a:ext cx="822960" cy="347472"/>
          </a:xfrm>
          <a:prstGeom prst="rect">
            <a:avLst/>
          </a:prstGeom>
          <a:solidFill>
            <a:srgbClr val="E0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342631" y="4078223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7020"/>
                </a:solidFill>
              </a:rPr>
              <a:t>T8★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183879" y="4023359"/>
            <a:ext cx="685800" cy="347472"/>
          </a:xfrm>
          <a:prstGeom prst="rect">
            <a:avLst/>
          </a:prstGeom>
          <a:solidFill>
            <a:srgbClr val="E0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211311" y="4078223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0.596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15400" y="4023359"/>
            <a:ext cx="685800" cy="347472"/>
          </a:xfrm>
          <a:prstGeom prst="rect">
            <a:avLst/>
          </a:prstGeom>
          <a:solidFill>
            <a:srgbClr val="E0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942832" y="4078223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3.96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646920" y="4023359"/>
            <a:ext cx="822960" cy="347472"/>
          </a:xfrm>
          <a:prstGeom prst="rect">
            <a:avLst/>
          </a:prstGeom>
          <a:solidFill>
            <a:srgbClr val="E0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674352" y="4078223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0.2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515600" y="4023359"/>
            <a:ext cx="914400" cy="347472"/>
          </a:xfrm>
          <a:prstGeom prst="rect">
            <a:avLst/>
          </a:prstGeom>
          <a:solidFill>
            <a:srgbClr val="E0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543032" y="4078223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8648"/>
                </a:solidFill>
              </a:rPr>
              <a:t>✓ Best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15200" y="44348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2828"/>
                </a:solidFill>
              </a:rPr>
              <a:t>T1 excluded from UQ: zero dropout → σ=0 everywhere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T1 is Excluded &amp; T9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Understanding the boundaries of our UQ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7</a:t>
            </a:r>
          </a:p>
        </p:txBody>
      </p:sp>
      <p:pic>
        <p:nvPicPr>
          <p:cNvPr id="9" name="Picture 8" descr="fig12_trial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13232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5321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5. Trial progression T1→T8: R² (top) and MAE (bottom). T8 = best UQ-compatible trial.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097280"/>
            <a:ext cx="4297680" cy="2240280"/>
          </a:xfrm>
          <a:prstGeom prst="rect">
            <a:avLst/>
          </a:prstGeom>
          <a:solidFill>
            <a:srgbClr val="FFF0E8"/>
          </a:solidFill>
          <a:ln w="25400">
            <a:solidFill>
              <a:srgbClr val="C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1143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2828"/>
                </a:solidFill>
              </a:rPr>
              <a:t>T1 — Excluded from UQ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53619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Has highest R² = 0.786 and MAE = 2.97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BUT: effective dropout = 0.0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All S=30 passes give identical output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σ = 0 everywhere → UQ undefined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Architectural constraint, not a flaw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19" y="3429000"/>
            <a:ext cx="4297680" cy="2240280"/>
          </a:xfrm>
          <a:prstGeom prst="rect">
            <a:avLst/>
          </a:prstGeom>
          <a:solidFill>
            <a:srgbClr val="FFEEEE"/>
          </a:solidFill>
          <a:ln w="25400">
            <a:solidFill>
              <a:srgbClr val="E0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35204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E07020"/>
                </a:solidFill>
              </a:rPr>
              <a:t>T9 — Heteroscedastic (Negative Result)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91363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1A1A1A"/>
                </a:solidFill>
              </a:rPr>
              <a:t>• Tried: predict mean AND variance directly</a:t>
            </a:r>
          </a:p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1A1A1A"/>
                </a:solidFill>
              </a:rPr>
              <a:t>• Result: R² = 0.02 (target was ≥ 0.57)</a:t>
            </a:r>
          </a:p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1A1A1A"/>
                </a:solidFill>
              </a:rPr>
              <a:t>• Model inflated variance to absorb errors</a:t>
            </a:r>
          </a:p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1A1A1A"/>
                </a:solidFill>
              </a:rPr>
              <a:t>• Instead of improving mean predictions</a:t>
            </a:r>
          </a:p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1A1A1A"/>
                </a:solidFill>
              </a:rPr>
              <a:t>• Known failure mode (Seitzer et al.)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6 UQ Methods Evaluated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All post-hoc — no model retraining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3657600" cy="2468880"/>
          </a:xfrm>
          <a:prstGeom prst="rect">
            <a:avLst/>
          </a:prstGeom>
          <a:solidFill>
            <a:srgbClr val="D6E8F7"/>
          </a:solidFill>
          <a:ln w="25400">
            <a:solidFill>
              <a:srgbClr val="26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02920" cy="2468880"/>
          </a:xfrm>
          <a:prstGeom prst="rect">
            <a:avLst/>
          </a:prstGeom>
          <a:solidFill>
            <a:srgbClr val="266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103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234439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6BB2"/>
                </a:solidFill>
              </a:rPr>
              <a:t>MC Dropout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69164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S=30 stochastic passes
at inference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097280"/>
            <a:ext cx="3657600" cy="2468880"/>
          </a:xfrm>
          <a:prstGeom prst="rect">
            <a:avLst/>
          </a:prstGeom>
          <a:solidFill>
            <a:srgbClr val="E0F5E5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06240" y="1097280"/>
            <a:ext cx="502920" cy="24688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59" y="2103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234439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Ensemble Variance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69164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5 seeded runs, std of
per-run means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097280"/>
            <a:ext cx="3657600" cy="2468880"/>
          </a:xfrm>
          <a:prstGeom prst="rect">
            <a:avLst/>
          </a:prstGeom>
          <a:solidFill>
            <a:srgbClr val="D6E8F7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097280"/>
            <a:ext cx="502920" cy="2468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2103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1234439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Combined UQ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69164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√(σ²_MC + σ²_ens)
quadrature sum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49039"/>
            <a:ext cx="3657600" cy="2468880"/>
          </a:xfrm>
          <a:prstGeom prst="rect">
            <a:avLst/>
          </a:prstGeom>
          <a:solidFill>
            <a:srgbClr val="FCE8E8"/>
          </a:solidFill>
          <a:ln w="25400">
            <a:solidFill>
              <a:srgbClr val="C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3749039"/>
            <a:ext cx="502920" cy="2468880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47548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8862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2828"/>
                </a:solidFill>
              </a:rPr>
              <a:t>Conformal Pred.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3434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Distribution-free
coverage guarantee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749039"/>
            <a:ext cx="3657600" cy="2468880"/>
          </a:xfrm>
          <a:prstGeom prst="rect">
            <a:avLst/>
          </a:prstGeom>
          <a:solidFill>
            <a:srgbClr val="FFF3E0"/>
          </a:solidFill>
          <a:ln w="25400">
            <a:solidFill>
              <a:srgbClr val="E0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06240" y="3749039"/>
            <a:ext cx="502920" cy="2468880"/>
          </a:xfrm>
          <a:prstGeom prst="rect">
            <a:avLst/>
          </a:prstGeom>
          <a:solidFill>
            <a:srgbClr val="E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51959" y="47548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38862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020"/>
                </a:solidFill>
              </a:rPr>
              <a:t>Selective Pred.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3434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Filter by σ threshold,
keep confident ones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3749039"/>
            <a:ext cx="3657600" cy="2468880"/>
          </a:xfrm>
          <a:prstGeom prst="rect">
            <a:avLst/>
          </a:prstGeom>
          <a:solidFill>
            <a:srgbClr val="F3E8FF"/>
          </a:solidFill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38160" y="3749039"/>
            <a:ext cx="502920" cy="24688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83880" y="47548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38862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30A0"/>
                </a:solidFill>
              </a:rPr>
              <a:t>Temp. Scaling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43434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Post-hoc calibration
with scalar 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RQ1: What is MC Dropout?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Keeping dropout active at inference to estimate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9</a:t>
            </a:r>
          </a:p>
        </p:txBody>
      </p:sp>
      <p:pic>
        <p:nvPicPr>
          <p:cNvPr id="9" name="Picture 8" descr="fig13_mc_dropout_in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13232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5321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606060"/>
                </a:solidFill>
              </a:rPr>
              <a:t>Fig: 6. S=30 stochastic forward passes through T8. Per-node mean (ŷ) and std (σ) computed. σ serves as the uncertainty estimate. Spearman ρ=0.4820.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143000"/>
            <a:ext cx="109728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0" y="12344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2520" y="1143000"/>
            <a:ext cx="3154680" cy="47548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12161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Load trained model with dropout layers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673352"/>
            <a:ext cx="109728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17647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673352"/>
            <a:ext cx="3154680" cy="47548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23960" y="17465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Enable dropout at inference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203704"/>
            <a:ext cx="109728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0" y="229514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2203704"/>
            <a:ext cx="3154680" cy="47548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23960" y="227685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Run S=30 forward passes on same graph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734056"/>
            <a:ext cx="109728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0" y="282549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2734056"/>
            <a:ext cx="3154680" cy="47548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23960" y="280720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Compute per-node mean: μ = (1/S)Σŷₛ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264408"/>
            <a:ext cx="109728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0" y="335584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3264408"/>
            <a:ext cx="3154680" cy="47548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33375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Compute per-node std: σ = std(ŷ₁...ŷ₃₀)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3794760"/>
            <a:ext cx="109728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0" y="38862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32520" y="3794760"/>
            <a:ext cx="3154680" cy="47548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23960" y="38679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High σ = model uncertain about this road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4416552"/>
            <a:ext cx="4297680" cy="502920"/>
          </a:xfrm>
          <a:prstGeom prst="rect">
            <a:avLst/>
          </a:prstGeom>
          <a:solidFill>
            <a:srgbClr val="FFF0D0"/>
          </a:solidFill>
          <a:ln w="19050">
            <a:solidFill>
              <a:srgbClr val="E0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26679" y="4462272"/>
            <a:ext cx="4069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E07020"/>
                </a:solidFill>
              </a:rPr>
              <a:t>S=30 chosen: plateau reached at S≈25, S=50 gives only +1% 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RQ1 Results: MC Dropout Uncertainty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T8 achieves ρ = 0.4820 — best among all UQ-compatible trials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10</a:t>
            </a:r>
          </a:p>
        </p:txBody>
      </p:sp>
      <p:pic>
        <p:nvPicPr>
          <p:cNvPr id="9" name="Picture 8" descr="t8_per_graph_var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532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7. Per-graph Spearman ρ across all 100 test scenarios. Mean=0.464, Std=0.023 — consistent quality, no outlier scenarios.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097280"/>
            <a:ext cx="77724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76872" y="1170432"/>
            <a:ext cx="722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097280"/>
            <a:ext cx="82296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9831" y="1170432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Dropout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1097280"/>
            <a:ext cx="86868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68511" y="1170432"/>
            <a:ext cx="813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Test
Graphs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5480" y="1097280"/>
            <a:ext cx="96012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82911" y="1170432"/>
            <a:ext cx="905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Spearman 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527048"/>
            <a:ext cx="7772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76872" y="1600200"/>
            <a:ext cx="722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T5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1527048"/>
            <a:ext cx="8229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9831" y="1600200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0.3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1527048"/>
            <a:ext cx="86868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68511" y="1600200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1527048"/>
            <a:ext cx="9601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82911" y="1600200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0.4263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1929384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76872" y="2002536"/>
            <a:ext cx="722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T6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1929384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99831" y="2002536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0.3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1929384"/>
            <a:ext cx="868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68511" y="2002536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192938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82911" y="2002536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0.4186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2331720"/>
            <a:ext cx="7772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76872" y="2404872"/>
            <a:ext cx="722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T7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2331720"/>
            <a:ext cx="8229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99831" y="2404872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0.3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41080" y="2331720"/>
            <a:ext cx="86868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68511" y="2404872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100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55480" y="2331720"/>
            <a:ext cx="9601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82911" y="2404872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0.4460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2734056"/>
            <a:ext cx="777240" cy="384048"/>
          </a:xfrm>
          <a:prstGeom prst="rect">
            <a:avLst/>
          </a:prstGeom>
          <a:solidFill>
            <a:srgbClr val="D6EA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76872" y="2807208"/>
            <a:ext cx="722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1A1A1A"/>
                </a:solidFill>
              </a:rPr>
              <a:t>T8★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2734056"/>
            <a:ext cx="822960" cy="384048"/>
          </a:xfrm>
          <a:prstGeom prst="rect">
            <a:avLst/>
          </a:prstGeom>
          <a:solidFill>
            <a:srgbClr val="D6EA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99831" y="2807208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0.2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41080" y="2734056"/>
            <a:ext cx="868680" cy="384048"/>
          </a:xfrm>
          <a:prstGeom prst="rect">
            <a:avLst/>
          </a:prstGeom>
          <a:solidFill>
            <a:srgbClr val="D6EA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68511" y="2807208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100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55480" y="2734056"/>
            <a:ext cx="960120" cy="384048"/>
          </a:xfrm>
          <a:prstGeom prst="rect">
            <a:avLst/>
          </a:prstGeom>
          <a:solidFill>
            <a:srgbClr val="D6EA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82911" y="2807208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7020"/>
                </a:solidFill>
              </a:rPr>
              <a:t>0.4820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3319272"/>
            <a:ext cx="1691640" cy="1005840"/>
          </a:xfrm>
          <a:prstGeom prst="rect">
            <a:avLst/>
          </a:prstGeom>
          <a:solidFill>
            <a:srgbClr val="D6E8F7"/>
          </a:solidFill>
          <a:ln w="25400">
            <a:solidFill>
              <a:srgbClr val="26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03720" y="3392424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66BB2"/>
                </a:solidFill>
              </a:rPr>
              <a:t>ρ = 0.4820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3794760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Uncertainty-Error
Correlation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41080" y="3319272"/>
            <a:ext cx="1691640" cy="1005840"/>
          </a:xfrm>
          <a:prstGeom prst="rect">
            <a:avLst/>
          </a:prstGeom>
          <a:solidFill>
            <a:srgbClr val="D6E8F7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86800" y="3392424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48"/>
                </a:solidFill>
              </a:rPr>
              <a:t>AUROC = 0.76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794760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Error Detection
(top-10% errors)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24160" y="3319272"/>
            <a:ext cx="1691640" cy="1005840"/>
          </a:xfrm>
          <a:prstGeom prst="rect">
            <a:avLst/>
          </a:prstGeom>
          <a:solidFill>
            <a:srgbClr val="D6E8F7"/>
          </a:solidFill>
          <a:ln w="25400">
            <a:solidFill>
              <a:srgbClr val="E0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469880" y="3392424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020"/>
                </a:solidFill>
              </a:rPr>
              <a:t>ΔR² = −0.010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69880" y="3794760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Accuracy Cost of
Enabling Dropout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S = 30 Convergence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Choosing the right number of MC forward passes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11</a:t>
            </a:r>
          </a:p>
        </p:txBody>
      </p:sp>
      <p:pic>
        <p:nvPicPr>
          <p:cNvPr id="9" name="Picture 8" descr="t8_s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6235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8. Spearman ρ vs number of MC samples S (T8, 10 test graphs). Both ρ and mean σ plateau at S≈25. Circled point = S=30 (chosen operating point).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18872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A3A5C"/>
                </a:solidFill>
              </a:rPr>
              <a:t>Why S=30?</a:t>
            </a:r>
          </a:p>
          <a:p>
            <a:pPr algn="l">
              <a:lnSpc>
                <a:spcPct val="120000"/>
              </a:lnSpc>
            </a:pPr>
            <a:endParaRPr sz="1200" b="1" dirty="0">
              <a:solidFill>
                <a:srgbClr val="1A3A5C"/>
              </a:solidFill>
            </a:endParaRPr>
          </a:p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266BB2"/>
                </a:solidFill>
              </a:rPr>
              <a:t>Convergence plateau:</a:t>
            </a:r>
          </a:p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1A1A1A"/>
                </a:solidFill>
              </a:rPr>
              <a:t>• ρ flattens sharply after S≈25</a:t>
            </a:r>
          </a:p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1A1A1A"/>
                </a:solidFill>
              </a:rPr>
              <a:t>• S=30 → ρ = 0.4584</a:t>
            </a:r>
          </a:p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1A1A1A"/>
                </a:solidFill>
              </a:rPr>
              <a:t>• S=50 → ρ = 0.4632 (+1.0% only)</a:t>
            </a:r>
          </a:p>
          <a:p>
            <a:pPr algn="l">
              <a:lnSpc>
                <a:spcPct val="120000"/>
              </a:lnSpc>
            </a:pPr>
            <a:endParaRPr sz="1200" b="0" dirty="0">
              <a:solidFill>
                <a:srgbClr val="1A1A1A"/>
              </a:solidFill>
            </a:endParaRPr>
          </a:p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266BB2"/>
                </a:solidFill>
              </a:rPr>
              <a:t>Compute cost:</a:t>
            </a:r>
          </a:p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1A1A1A"/>
                </a:solidFill>
              </a:rPr>
              <a:t>• S=30: 228 min on T4 GPU</a:t>
            </a:r>
          </a:p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1A1A1A"/>
                </a:solidFill>
              </a:rPr>
              <a:t>• S=50: ~380 min (+67% cost)</a:t>
            </a:r>
          </a:p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1A1A1A"/>
                </a:solidFill>
              </a:rPr>
              <a:t>• Gain: only +1% improvement</a:t>
            </a:r>
          </a:p>
          <a:p>
            <a:pPr algn="l">
              <a:lnSpc>
                <a:spcPct val="120000"/>
              </a:lnSpc>
            </a:pPr>
            <a:endParaRPr sz="1200" b="0" dirty="0">
              <a:solidFill>
                <a:srgbClr val="1A1A1A"/>
              </a:solidFill>
            </a:endParaRPr>
          </a:p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2E8648"/>
                </a:solidFill>
              </a:rPr>
              <a:t>Conclusion:</a:t>
            </a:r>
          </a:p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1A1A1A"/>
                </a:solidFill>
              </a:rPr>
              <a:t>S=30 is on the plateau.</a:t>
            </a:r>
          </a:p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1A1A1A"/>
                </a:solidFill>
              </a:rPr>
              <a:t>Optimal cost-quality trade-off.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RQ2: MC Dropout vs Ensemble Variance (Exp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5 seeded runs on same T8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12</a:t>
            </a:r>
          </a:p>
        </p:txBody>
      </p:sp>
      <p:pic>
        <p:nvPicPr>
          <p:cNvPr id="9" name="Picture 8" descr="fig2_uq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31520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532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9. Spearman ρ for all evaluated UQ methods. MC Dropout (blue) outperforms ensemble variance (orange). Best = Exp A Combined (ρ=0.4909).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Experiment A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600200"/>
            <a:ext cx="4114800" cy="594360"/>
          </a:xfrm>
          <a:prstGeom prst="rect">
            <a:avLst/>
          </a:prstGeom>
          <a:solidFill>
            <a:srgbClr val="E0F0FF"/>
          </a:solidFill>
          <a:ln w="19050">
            <a:solidFill>
              <a:srgbClr val="26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16550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MC Dropout (S=30)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16550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66BB2"/>
                </a:solidFill>
              </a:rPr>
              <a:t>ρ = 0.4908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258568"/>
            <a:ext cx="4114800" cy="594360"/>
          </a:xfrm>
          <a:prstGeom prst="rect">
            <a:avLst/>
          </a:prstGeom>
          <a:solidFill>
            <a:srgbClr val="F5F5F5"/>
          </a:solidFill>
          <a:ln w="19050">
            <a:solidFill>
              <a:srgbClr val="E0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2313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Ensemble Variance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2313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07020"/>
                </a:solidFill>
              </a:rPr>
              <a:t>ρ = 0.4370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916935"/>
            <a:ext cx="4114800" cy="594360"/>
          </a:xfrm>
          <a:prstGeom prst="rect">
            <a:avLst/>
          </a:prstGeom>
          <a:solidFill>
            <a:srgbClr val="F5F5F5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29717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Combined (MC+Ens)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29717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E8648"/>
                </a:solidFill>
              </a:rPr>
              <a:t>ρ = 0.4909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666743"/>
            <a:ext cx="4114800" cy="1371600"/>
          </a:xfrm>
          <a:prstGeom prst="rect">
            <a:avLst/>
          </a:prstGeom>
          <a:solidFill>
            <a:srgbClr val="E8F5EC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3739895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48"/>
                </a:solidFill>
              </a:rPr>
              <a:t>Key Finding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078223"/>
            <a:ext cx="388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MC Dropout beats Ensemble Variance by +12.3%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Combined adds negligible benefit (+0.01 ρ)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Ensemble variance is largely redundant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22122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Note: PyTorch Geometric API bug fixed before evaluation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RQ3: Multi-Model Ensemble (Exp 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T2 + T5 + T6 + T7 + T8 — weighted by individual R²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13</a:t>
            </a:r>
          </a:p>
        </p:txBody>
      </p:sp>
      <p:pic>
        <p:nvPicPr>
          <p:cNvPr id="9" name="Picture 8" descr="t7_vs_t8_uq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13232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5321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10. Comprehensive UQ comparison: T7 vs T8 across AUROC, Spearman ρ, k₉₅, MAE, and selective prediction.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0972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Experiment B: 5-Model Ensemble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536192"/>
            <a:ext cx="2743200" cy="42062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378440" y="1536192"/>
            <a:ext cx="1463040" cy="420624"/>
          </a:xfrm>
          <a:prstGeom prst="rect">
            <a:avLst/>
          </a:prstGeom>
          <a:solidFill>
            <a:srgbClr val="D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99248" y="1609344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Ensemble 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16093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7020"/>
                </a:solidFill>
              </a:rPr>
              <a:t>0.4333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011680"/>
            <a:ext cx="2743200" cy="42062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378440" y="2011680"/>
            <a:ext cx="1463040" cy="420624"/>
          </a:xfrm>
          <a:prstGeom prst="rect">
            <a:avLst/>
          </a:prstGeom>
          <a:solidFill>
            <a:srgbClr val="D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99248" y="208483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Ensemble R²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08483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7020"/>
                </a:solidFill>
              </a:rPr>
              <a:t>0.5656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487168"/>
            <a:ext cx="2743200" cy="42062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378440" y="2487168"/>
            <a:ext cx="1463040" cy="420624"/>
          </a:xfrm>
          <a:prstGeom prst="rect">
            <a:avLst/>
          </a:prstGeom>
          <a:solidFill>
            <a:srgbClr val="D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99248" y="256032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Best single (T8) R²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5603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8648"/>
                </a:solidFill>
              </a:rPr>
              <a:t>0.5957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2962656"/>
            <a:ext cx="2743200" cy="42062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378440" y="2962656"/>
            <a:ext cx="1463040" cy="420624"/>
          </a:xfrm>
          <a:prstGeom prst="rect">
            <a:avLst/>
          </a:prstGeom>
          <a:solidFill>
            <a:srgbClr val="D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99248" y="303580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MC Dropout ρ (T8)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30358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8648"/>
                </a:solidFill>
              </a:rPr>
              <a:t>0.4908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3575304"/>
            <a:ext cx="4297680" cy="1828800"/>
          </a:xfrm>
          <a:prstGeom prst="rect">
            <a:avLst/>
          </a:prstGeom>
          <a:solidFill>
            <a:srgbClr val="FFF3E0"/>
          </a:solidFill>
          <a:ln w="19050">
            <a:solidFill>
              <a:srgbClr val="E0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3639312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020"/>
                </a:solidFill>
              </a:rPr>
              <a:t>Why ensemble doesn't help 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986784"/>
            <a:ext cx="4069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Models span R² 0.51 (T2) to 0.60 (T8)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Averaging weaker models dilutes T8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Architectural diversity not tested here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UQ-wise: ρ=0.4333 &lt; MC Dropout 0.4908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Technical Finding: PyTorch Geometric API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Why ensemble results had to be corrected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11612880" cy="1234440"/>
          </a:xfrm>
          <a:prstGeom prst="rect">
            <a:avLst/>
          </a:prstGeom>
          <a:solidFill>
            <a:srgbClr val="FFEEDD"/>
          </a:solidFill>
          <a:ln w="25400">
            <a:solidFill>
              <a:srgbClr val="C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2828"/>
                </a:solidFill>
              </a:rPr>
              <a:t>Problem: Silent GATConv weight mismatch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36192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Original ensemble scripts loaded checkpoints with strict=False. PyG 2.3.1 expected lin_src.weight / lin_dst.weight, but checkpoints stored lin.weight (older format). Weights silently dropped → R² dropped from ~0.59 to near-zero.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5394960" cy="2286000"/>
          </a:xfrm>
          <a:prstGeom prst="rect">
            <a:avLst/>
          </a:prstGeom>
          <a:solidFill>
            <a:srgbClr val="FFEEEE"/>
          </a:solidFill>
          <a:ln w="25400">
            <a:solidFill>
              <a:srgbClr val="C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578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2828"/>
                </a:solidFill>
              </a:rPr>
              <a:t>Before Fix (Corrupted)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99232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C02828"/>
                </a:solidFill>
              </a:rPr>
              <a:t>Ensemble R²:   ~0.0</a:t>
            </a:r>
          </a:p>
          <a:p>
            <a:pPr algn="l">
              <a:lnSpc>
                <a:spcPct val="140000"/>
              </a:lnSpc>
            </a:pPr>
            <a:r>
              <a:rPr sz="2000" b="1">
                <a:solidFill>
                  <a:srgbClr val="C02828"/>
                </a:solidFill>
              </a:rPr>
              <a:t>Ensemble ρ:    ~0.0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514600"/>
            <a:ext cx="5394960" cy="2286000"/>
          </a:xfrm>
          <a:prstGeom prst="rect">
            <a:avLst/>
          </a:prstGeom>
          <a:solidFill>
            <a:srgbClr val="E8F5EC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2578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After Fix (Corrected)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99232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2E8648"/>
                </a:solidFill>
              </a:rPr>
              <a:t>Ensemble R²:   0.5656</a:t>
            </a:r>
          </a:p>
          <a:p>
            <a:pPr algn="l">
              <a:lnSpc>
                <a:spcPct val="140000"/>
              </a:lnSpc>
            </a:pPr>
            <a:r>
              <a:rPr sz="2000" b="1">
                <a:solidFill>
                  <a:srgbClr val="2E8648"/>
                </a:solidFill>
              </a:rPr>
              <a:t>Ensemble ρ:    0.4333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983480"/>
            <a:ext cx="11612880" cy="822960"/>
          </a:xfrm>
          <a:prstGeom prst="rect">
            <a:avLst/>
          </a:prstGeom>
          <a:solidFill>
            <a:srgbClr val="E8F0FF"/>
          </a:solidFill>
          <a:ln w="19050">
            <a:solidFill>
              <a:srgbClr val="26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0474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BB2"/>
                </a:solidFill>
              </a:rPr>
              <a:t>Fix: Remapped checkpoint keys before loading with strict=True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675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Impact: MC Dropout, conformal prediction, temperature scaling results are NOT affected — they used the matching PyG version.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RQ4: The Calibration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Raw MC Dropout σ is NOT a calibrated standard deviation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15</a:t>
            </a:r>
          </a:p>
        </p:txBody>
      </p:sp>
      <p:pic>
        <p:nvPicPr>
          <p:cNvPr id="9" name="Picture 8" descr="fig7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2303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11. Scaling factor k₉₅ needed for ±kσ to achieve 95% coverage. Ideal Gaussian: k=1.96. T8 MC Dropout requires k=11.34 — nearly 6× larger.</a:t>
            </a:r>
          </a:p>
        </p:txBody>
      </p:sp>
      <p:pic>
        <p:nvPicPr>
          <p:cNvPr id="11" name="Picture 10" descr="t8_reliabilit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64008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0" y="52303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12. Reliability diagram (left): observed coverage always below diagonal = systematic under-coverage. ECE = 0.265 means coverage deviates 26.5 pp on average.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669280"/>
            <a:ext cx="11612880" cy="868680"/>
          </a:xfrm>
          <a:prstGeom prst="rect">
            <a:avLst/>
          </a:prstGeom>
          <a:solidFill>
            <a:srgbClr val="FFEEDD"/>
          </a:solidFill>
          <a:ln w="19050">
            <a:solidFill>
              <a:srgbClr val="E0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57332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07020"/>
                </a:solidFill>
              </a:rPr>
              <a:t>Key insight: σ is a ranking signal — NOT a probability. Spearman ρ=0.4820 works perfectly. But ±1.96σ only gives 54.8% coverage (target: 95%).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RQ4: Coverage — MC Dropout vs Conformal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Conformal prediction fixes the coverage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16</a:t>
            </a:r>
          </a:p>
        </p:txBody>
      </p:sp>
      <p:pic>
        <p:nvPicPr>
          <p:cNvPr id="9" name="Picture 8" descr="t8_calibr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5321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13. T8 calibration curve. Raw MC Dropout (blue) severely undercovers. Global conformal (orange) and adaptive conformal (green) both hit nominal targets.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0972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Coverage Comparison 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508760"/>
            <a:ext cx="9601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93992" y="1563624"/>
            <a:ext cx="905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Nominal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508760"/>
            <a:ext cx="128016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99831" y="1563624"/>
            <a:ext cx="122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Raw MC
Coverage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508760"/>
            <a:ext cx="146304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25711" y="1563624"/>
            <a:ext cx="1408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Conformal
Coverage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1984248"/>
            <a:ext cx="960120" cy="43891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93992" y="2075688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3A5C"/>
                </a:solidFill>
              </a:rPr>
              <a:t>50%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984248"/>
            <a:ext cx="1280160" cy="438912"/>
          </a:xfrm>
          <a:prstGeom prst="rect">
            <a:avLst/>
          </a:prstGeom>
          <a:solidFill>
            <a:srgbClr val="FFEE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99831" y="2075688"/>
            <a:ext cx="1225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2828"/>
                </a:solidFill>
              </a:rPr>
              <a:t>23.3%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1984248"/>
            <a:ext cx="1463040" cy="438912"/>
          </a:xfrm>
          <a:prstGeom prst="rect">
            <a:avLst/>
          </a:prstGeom>
          <a:solidFill>
            <a:srgbClr val="E8F5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25711" y="207568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8648"/>
                </a:solidFill>
              </a:rPr>
              <a:t>50.0%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2441448"/>
            <a:ext cx="960120" cy="43891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93992" y="2532888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3A5C"/>
                </a:solidFill>
              </a:rPr>
              <a:t>80%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2441448"/>
            <a:ext cx="1280160" cy="438912"/>
          </a:xfrm>
          <a:prstGeom prst="rect">
            <a:avLst/>
          </a:prstGeom>
          <a:solidFill>
            <a:srgbClr val="FFEE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99831" y="2532888"/>
            <a:ext cx="1225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2828"/>
                </a:solidFill>
              </a:rPr>
              <a:t>40.1%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2441448"/>
            <a:ext cx="1463040" cy="438912"/>
          </a:xfrm>
          <a:prstGeom prst="rect">
            <a:avLst/>
          </a:prstGeom>
          <a:solidFill>
            <a:srgbClr val="E8F5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25711" y="253288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8648"/>
                </a:solidFill>
              </a:rPr>
              <a:t>80.0%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2898648"/>
            <a:ext cx="960120" cy="43891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93992" y="2990088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3A5C"/>
                </a:solidFill>
              </a:rPr>
              <a:t>90%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2898648"/>
            <a:ext cx="1280160" cy="438912"/>
          </a:xfrm>
          <a:prstGeom prst="rect">
            <a:avLst/>
          </a:prstGeom>
          <a:solidFill>
            <a:srgbClr val="FFEE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99831" y="2990088"/>
            <a:ext cx="1225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2828"/>
                </a:solidFill>
              </a:rPr>
              <a:t>48.6%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2898648"/>
            <a:ext cx="1463040" cy="438912"/>
          </a:xfrm>
          <a:prstGeom prst="rect">
            <a:avLst/>
          </a:prstGeom>
          <a:solidFill>
            <a:srgbClr val="E8F5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25711" y="299008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8648"/>
                </a:solidFill>
              </a:rPr>
              <a:t>90.0%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355848"/>
            <a:ext cx="960120" cy="43891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93992" y="3447288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3A5C"/>
                </a:solidFill>
              </a:rPr>
              <a:t>95%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3355848"/>
            <a:ext cx="1280160" cy="438912"/>
          </a:xfrm>
          <a:prstGeom prst="rect">
            <a:avLst/>
          </a:prstGeom>
          <a:solidFill>
            <a:srgbClr val="FFEE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99831" y="3447288"/>
            <a:ext cx="1225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2828"/>
                </a:solidFill>
              </a:rPr>
              <a:t>54.8%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3355848"/>
            <a:ext cx="1463040" cy="438912"/>
          </a:xfrm>
          <a:prstGeom prst="rect">
            <a:avLst/>
          </a:prstGeom>
          <a:solidFill>
            <a:srgbClr val="E8F5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25711" y="344728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8648"/>
                </a:solidFill>
              </a:rPr>
              <a:t>95.0%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3922776"/>
            <a:ext cx="3886200" cy="1645920"/>
          </a:xfrm>
          <a:prstGeom prst="rect">
            <a:avLst/>
          </a:prstGeom>
          <a:solidFill>
            <a:srgbClr val="E8F5EC"/>
          </a:solidFill>
          <a:ln w="2286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03720" y="3977639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48"/>
                </a:solidFill>
              </a:rPr>
              <a:t>Why conformal works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361688"/>
            <a:ext cx="3611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Uses empirical calibration quantile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Distribution-free — no assumptions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Guaranteed by construction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Cost: wider fixed intervals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RQ4: Temperature Scaling — Post-Hoc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Single scalar T=2.70 reduces ECE by 82%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17</a:t>
            </a:r>
          </a:p>
        </p:txBody>
      </p:sp>
      <p:pic>
        <p:nvPicPr>
          <p:cNvPr id="9" name="Picture 8" descr="t8_temperature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498079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8064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14. Top: reliability diagrams before (ECE=0.269) and after (ECE=0.048) scaling with T=2.70. Bottom: coverage gap reduction at each nominal level. Evaluated on 80 held-out graphs.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143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What is Temperature Scaling?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53619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σ_scaled = σ_raw × T
Optimal T learned on calibration set (20 graphs) by minimising ECE.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331720"/>
            <a:ext cx="3931920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2386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6BB2"/>
                </a:solidFill>
              </a:rPr>
              <a:t>T = 2.70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23865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06060"/>
                </a:solidFill>
              </a:rPr>
              <a:t>Optimal scaling factor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843784"/>
            <a:ext cx="3931920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2898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48"/>
                </a:solidFill>
              </a:rPr>
              <a:t>ECE: 0.265 → 0.048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28986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06060"/>
                </a:solidFill>
              </a:rPr>
              <a:t>82% improvement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355848"/>
            <a:ext cx="3931920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34107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48"/>
                </a:solidFill>
              </a:rPr>
              <a:t>NLL: 21.65 → 4.75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3410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06060"/>
                </a:solidFill>
              </a:rPr>
              <a:t>78% improvement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3867912"/>
            <a:ext cx="3931920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39227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48"/>
                </a:solidFill>
              </a:rPr>
              <a:t>KS stat: 0.245 → 0.104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39227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06060"/>
                </a:solidFill>
              </a:rPr>
              <a:t>PIT improvement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4379976"/>
            <a:ext cx="3931920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38160" y="4434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020"/>
                </a:solidFill>
              </a:rPr>
              <a:t>95% coverage: 83.3%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4434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06060"/>
                </a:solidFill>
              </a:rPr>
              <a:t>Not 95% — residual gap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4937760"/>
            <a:ext cx="3931920" cy="640080"/>
          </a:xfrm>
          <a:prstGeom prst="rect">
            <a:avLst/>
          </a:prstGeom>
          <a:solidFill>
            <a:srgbClr val="FFF3E0"/>
          </a:solidFill>
          <a:ln w="19050">
            <a:solidFill>
              <a:srgbClr val="E0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0" y="49834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7020"/>
                </a:solidFill>
              </a:rPr>
              <a:t>Useful middle step. Residual gap at tails → conformal prediction still needed for guarantees.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RQ4: Split Conformal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Distribution-free coverage guarantee — no model assumptions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18</a:t>
            </a:r>
          </a:p>
        </p:txBody>
      </p:sp>
      <p:pic>
        <p:nvPicPr>
          <p:cNvPr id="9" name="Picture 8" descr="fig14_conforma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58952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5321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15. Conformal prediction workflow for T8. 100 test graphs → 50 calibration + 50 evaluation. Calibration residuals define quantile q. Intervals ŷ±q guarantee ≥90% or ≥95% coverage.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How It 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572768"/>
            <a:ext cx="384048" cy="457200"/>
          </a:xfrm>
          <a:prstGeom prst="rect">
            <a:avLst/>
          </a:prstGeom>
          <a:solidFill>
            <a:srgbClr val="266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164592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2208" y="1572768"/>
            <a:ext cx="3383280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13648" y="16459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Split test data: 50 calibration + 50 evaluation graphs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084832"/>
            <a:ext cx="384048" cy="457200"/>
          </a:xfrm>
          <a:prstGeom prst="rect">
            <a:avLst/>
          </a:prstGeom>
          <a:solidFill>
            <a:srgbClr val="266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92440" y="215798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22208" y="2084832"/>
            <a:ext cx="3383280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13648" y="2157984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On calibration set: compute residuals |y − ŷ| per node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2596896"/>
            <a:ext cx="384048" cy="457200"/>
          </a:xfrm>
          <a:prstGeom prst="rect">
            <a:avLst/>
          </a:prstGeom>
          <a:solidFill>
            <a:srgbClr val="266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26700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22208" y="2596896"/>
            <a:ext cx="3383280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13648" y="267004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Find quantile q at desired level (e.g. 90th or 95th)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3108960"/>
            <a:ext cx="384048" cy="457200"/>
          </a:xfrm>
          <a:prstGeom prst="rect">
            <a:avLst/>
          </a:prstGeom>
          <a:solidFill>
            <a:srgbClr val="266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2440" y="318211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22208" y="3108960"/>
            <a:ext cx="3383280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13648" y="318211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Apply to eval set: interval = [ŷ − q, ŷ + q]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3621024"/>
            <a:ext cx="384048" cy="457200"/>
          </a:xfrm>
          <a:prstGeom prst="rect">
            <a:avLst/>
          </a:prstGeom>
          <a:solidFill>
            <a:srgbClr val="266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92440" y="369417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22208" y="3621024"/>
            <a:ext cx="3383280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13648" y="369417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Coverage guaranteed: ≥90% or ≥95% by construction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4224528"/>
            <a:ext cx="3822191" cy="777240"/>
          </a:xfrm>
          <a:prstGeom prst="rect">
            <a:avLst/>
          </a:prstGeom>
          <a:solidFill>
            <a:srgbClr val="E8F5EC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0" y="428853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8648"/>
                </a:solidFill>
              </a:rPr>
              <a:t>Key: Guarantee holds regardless of model internals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Only assumption: data is exchangeable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RQ4: Conformal Prediction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Near-exact coverage achieved at both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19</a:t>
            </a:r>
          </a:p>
        </p:txBody>
      </p:sp>
      <p:pic>
        <p:nvPicPr>
          <p:cNvPr id="9" name="Picture 8" descr="fig3_conformal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5836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5321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16. Nominal vs achieved coverage (left) and interval half-widths (right). Both 90% and 95% levels meet targets within 0.02 percentage points. Evaluated on 50 graphs (1,581,750 nodes).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143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Coverage Results (T8)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572768"/>
            <a:ext cx="4846320" cy="1188720"/>
          </a:xfrm>
          <a:prstGeom prst="rect">
            <a:avLst/>
          </a:prstGeom>
          <a:solidFill>
            <a:srgbClr val="D6E8F7"/>
          </a:solidFill>
          <a:ln w="25400">
            <a:solidFill>
              <a:srgbClr val="26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16459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6BB2"/>
                </a:solidFill>
              </a:rPr>
              <a:t>90%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993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5C"/>
                </a:solidFill>
              </a:rPr>
              <a:t>q = 9.92 veh/h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2860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66BB2"/>
                </a:solidFill>
              </a:rPr>
              <a:t>Achieved: 90.02%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2852928"/>
            <a:ext cx="4846320" cy="1188720"/>
          </a:xfrm>
          <a:prstGeom prst="rect">
            <a:avLst/>
          </a:prstGeom>
          <a:solidFill>
            <a:srgbClr val="D6E8F7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29260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95%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273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5C"/>
                </a:solidFill>
              </a:rPr>
              <a:t>q = 14.68 veh/h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566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648"/>
                </a:solidFill>
              </a:rPr>
              <a:t>Achieved: 95.01%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4178807"/>
            <a:ext cx="4846320" cy="2057400"/>
          </a:xfrm>
          <a:prstGeom prst="rect">
            <a:avLst/>
          </a:prstGeom>
          <a:solidFill>
            <a:srgbClr val="F0F8E8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0" y="4242816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48"/>
                </a:solidFill>
              </a:rPr>
              <a:t>What this means for planners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90288"/>
            <a:ext cx="4617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At least 95% of true Δv values fall within ±14.68 veh/h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This guarantee is mathematically proven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Fixed-width: same interval for every road segment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• Cost: ~6× wider than raw MC Dropout interval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RQ4: Adaptive Conformal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Combining MC Dropout ranking with conformal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20</a:t>
            </a:r>
          </a:p>
        </p:txBody>
      </p:sp>
      <p:pic>
        <p:nvPicPr>
          <p:cNvPr id="9" name="Picture 8" descr="t8_conformal_condi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532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17. Left: standard conformal over-covers low-uncertainty nodes (98.6%) and under-covers high-uncertainty (62.9%). Right: adaptive conformal narrows this to [90.0%, 96.2%] — much more uniform conditional coverage.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Standard vs Adaptive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572768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07020"/>
                </a:solidFill>
              </a:rPr>
              <a:t>Standard conformal: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• Fixed width ±q for all nodes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• D1 (low σ): 98.6% coverage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• D10 (high σ): 62.9%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063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E8648"/>
                </a:solidFill>
              </a:rPr>
              <a:t>Adaptive conformal: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• Width = q_adapt × σ (node-specific)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• Wider where model is uncertain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• Narrows disparity → [90%, 96.2%]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4553712"/>
            <a:ext cx="3657600" cy="1097280"/>
          </a:xfrm>
          <a:prstGeom prst="rect">
            <a:avLst/>
          </a:prstGeom>
          <a:solidFill>
            <a:srgbClr val="D6E8F7"/>
          </a:solidFill>
          <a:ln w="19050">
            <a:solidFill>
              <a:srgbClr val="26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460857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6BB2"/>
                </a:solidFill>
              </a:rPr>
              <a:t>Best of both worlds: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93776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MC Dropout σ provides adaptive widths.
Conformal guarantees marginal coverage.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Selective Prediction: Filter by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Keep only confident predictions → dramatically lower MAE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21</a:t>
            </a:r>
          </a:p>
        </p:txBody>
      </p:sp>
      <p:pic>
        <p:nvPicPr>
          <p:cNvPr id="9" name="Picture 8" descr="t8_selective_predic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532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18. MAE as fraction of retained predictions (sorted by ascending σ) for T8. Retaining the 50% most certain predictions gives −41.2% MAE. Based on 100 test graphs (3,163,500 nodes).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097280"/>
            <a:ext cx="109728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88352" y="1161288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Retained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097280"/>
            <a:ext cx="128016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31352" y="1161288"/>
            <a:ext cx="1225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MAE (veh/h)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29800" y="1097280"/>
            <a:ext cx="118872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57232" y="1161288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1527048"/>
            <a:ext cx="1097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88352" y="160934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2828"/>
                </a:solidFill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1527048"/>
            <a:ext cx="1280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31352" y="1609344"/>
            <a:ext cx="1225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2828"/>
                </a:solidFill>
              </a:rPr>
              <a:t>3.95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800" y="1527048"/>
            <a:ext cx="118872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57232" y="160934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2828"/>
                </a:solidFill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1984248"/>
            <a:ext cx="1097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88352" y="2066543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7020"/>
                </a:solidFill>
              </a:rPr>
              <a:t>90%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1984248"/>
            <a:ext cx="1280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31352" y="2066543"/>
            <a:ext cx="1225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7020"/>
                </a:solidFill>
              </a:rPr>
              <a:t>3.23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1984248"/>
            <a:ext cx="118872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57232" y="2066543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7020"/>
                </a:solidFill>
              </a:rPr>
              <a:t>−18.3%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2441448"/>
            <a:ext cx="1097280" cy="438912"/>
          </a:xfrm>
          <a:prstGeom prst="rect">
            <a:avLst/>
          </a:prstGeom>
          <a:solidFill>
            <a:srgbClr val="D0E8FF"/>
          </a:solidFill>
          <a:ln w="19050">
            <a:solidFill>
              <a:srgbClr val="26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88352" y="252374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6BB2"/>
                </a:solidFill>
              </a:rPr>
              <a:t>50%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2441448"/>
            <a:ext cx="1280160" cy="438912"/>
          </a:xfrm>
          <a:prstGeom prst="rect">
            <a:avLst/>
          </a:prstGeom>
          <a:solidFill>
            <a:srgbClr val="D0E8FF"/>
          </a:solidFill>
          <a:ln w="19050">
            <a:solidFill>
              <a:srgbClr val="26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31352" y="2523744"/>
            <a:ext cx="1225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6BB2"/>
                </a:solidFill>
              </a:rPr>
              <a:t>2.32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2441448"/>
            <a:ext cx="1188720" cy="438912"/>
          </a:xfrm>
          <a:prstGeom prst="rect">
            <a:avLst/>
          </a:prstGeom>
          <a:solidFill>
            <a:srgbClr val="D0E8FF"/>
          </a:solidFill>
          <a:ln w="19050">
            <a:solidFill>
              <a:srgbClr val="26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57232" y="252374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6BB2"/>
                </a:solidFill>
              </a:rPr>
              <a:t>−41.2%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2898648"/>
            <a:ext cx="1097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88352" y="298094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25%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2898648"/>
            <a:ext cx="1280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31352" y="2980944"/>
            <a:ext cx="1225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1.79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29800" y="2898648"/>
            <a:ext cx="118872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57232" y="298094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−54.6%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3355848"/>
            <a:ext cx="1097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88352" y="343814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10%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3355848"/>
            <a:ext cx="1280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31352" y="3438144"/>
            <a:ext cx="1225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1.06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9800" y="3355848"/>
            <a:ext cx="118872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57232" y="343814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−73.3%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60920" y="3950208"/>
            <a:ext cx="3657600" cy="1051560"/>
          </a:xfrm>
          <a:prstGeom prst="rect">
            <a:avLst/>
          </a:prstGeom>
          <a:solidFill>
            <a:srgbClr val="E8F5EC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98079" y="4014215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48"/>
                </a:solidFill>
              </a:rPr>
              <a:t>Practical use for planners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4361688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Accept bottom 50% σ → expect MAE ≈ 2.32 veh/h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</a:rPr>
              <a:t>Run full MATSim only for top 10% most uncertain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3-Layer UQ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Main practical recommendation of this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3749039" cy="411480"/>
          </a:xfrm>
          <a:prstGeom prst="rect">
            <a:avLst/>
          </a:prstGeom>
          <a:solidFill>
            <a:srgbClr val="266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1430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LAYER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08760"/>
            <a:ext cx="3749039" cy="4663440"/>
          </a:xfrm>
          <a:prstGeom prst="rect">
            <a:avLst/>
          </a:prstGeom>
          <a:solidFill>
            <a:srgbClr val="D6E8F7"/>
          </a:solidFill>
          <a:ln w="25400">
            <a:solidFill>
              <a:srgbClr val="26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6BB2"/>
                </a:solidFill>
              </a:rPr>
              <a:t>MC Dropout (S=30)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Purpose: RANKING predictions by 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77440"/>
            <a:ext cx="3520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</a:rPr>
              <a:t>• σ = per-node uncertainty estimate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</a:rPr>
              <a:t>• Spearman ρ = 0.4820 with actual error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</a:rPr>
              <a:t>• AUROC = 0.76 for error detection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</a:rPr>
              <a:t>• Use: selective prediction, flagging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097280"/>
            <a:ext cx="3749039" cy="4114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19" y="11430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LAYER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1508760"/>
            <a:ext cx="3749039" cy="4663440"/>
          </a:xfrm>
          <a:prstGeom prst="rect">
            <a:avLst/>
          </a:prstGeom>
          <a:solidFill>
            <a:srgbClr val="F0E8FF"/>
          </a:solidFill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157276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30A0"/>
                </a:solidFill>
              </a:rPr>
              <a:t>Temperature Scaling (T=2.70)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9659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Purpose: CALIBRATE σ toward probability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377440"/>
            <a:ext cx="3520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</a:rPr>
              <a:t>• σ_scaled = σ_raw × 2.70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</a:rPr>
              <a:t>• ECE reduced 82% (0.265 → 0.048)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</a:rPr>
              <a:t>• Better Gaussian approximation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</a:rPr>
              <a:t>• Use: when approximate probabilities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19" y="1097280"/>
            <a:ext cx="3749039" cy="4114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59" y="11430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LAYER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19" y="1508760"/>
            <a:ext cx="3749039" cy="4663440"/>
          </a:xfrm>
          <a:prstGeom prst="rect">
            <a:avLst/>
          </a:prstGeom>
          <a:solidFill>
            <a:srgbClr val="E8F5EC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157276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Conformal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9659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Purpose: GUARANTEE coverage bounds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377440"/>
            <a:ext cx="3520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</a:rPr>
              <a:t>• 90.02% at 90% nominal ✓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</a:rPr>
              <a:t>• 95.01% at 95% nominal ✓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</a:rPr>
              <a:t>• Distribution-free — no assumptions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</a:rPr>
              <a:t>• Use: contractual / operational requirements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0792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2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172200"/>
            <a:ext cx="1154887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217920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8F7"/>
                </a:solidFill>
              </a:rPr>
              <a:t>All three methods are post-hoc: no model retraining required. They can be applied to any trained GNN.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UQ Methods: Summary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All 5 methods evaluated on T8 (100 test graphs, 3.16M predictions)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164592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170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1097280"/>
            <a:ext cx="256032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79" y="117043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Key 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097280"/>
            <a:ext cx="292608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1704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Strength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1097280"/>
            <a:ext cx="310896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11704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Limitation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27048"/>
            <a:ext cx="164592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" y="1600200"/>
            <a:ext cx="15179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MC Dropout
(S=30)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1527048"/>
            <a:ext cx="256032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29967" y="1600200"/>
            <a:ext cx="243230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ρ=0.4820
CRPS/MAE=0.857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527048"/>
            <a:ext cx="292608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36008" y="1600200"/>
            <a:ext cx="279806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Node-specific ranking
Selective pred. −41.2% MAE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1527048"/>
            <a:ext cx="310896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07808" y="1600200"/>
            <a:ext cx="298094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Not calibrated (k₉₅=11.34)
S-fold compute cost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527048"/>
            <a:ext cx="1645920" cy="896112"/>
          </a:xfrm>
          <a:prstGeom prst="rect">
            <a:avLst/>
          </a:prstGeom>
          <a:solidFill>
            <a:srgbClr val="D6E8F7"/>
          </a:solidFill>
          <a:ln w="25400">
            <a:solidFill>
              <a:srgbClr val="26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8328" y="1600200"/>
            <a:ext cx="15179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6BB2"/>
                </a:solidFill>
              </a:rPr>
              <a:t>MC Dropout
(S=30)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478024"/>
            <a:ext cx="164592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8328" y="2551176"/>
            <a:ext cx="15179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Temp. Scaling
(T=2.70)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5960" y="2478024"/>
            <a:ext cx="256032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29967" y="2551176"/>
            <a:ext cx="243230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ECE: 0.265→0.048
KS: 0.245→0.104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478024"/>
            <a:ext cx="292608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36008" y="2551176"/>
            <a:ext cx="279806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Single parameter
No retraining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2478024"/>
            <a:ext cx="310896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07808" y="2551176"/>
            <a:ext cx="298094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Gaussian assumption
Residual miscal. at tails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478024"/>
            <a:ext cx="1645920" cy="896112"/>
          </a:xfrm>
          <a:prstGeom prst="rect">
            <a:avLst/>
          </a:prstGeom>
          <a:solidFill>
            <a:srgbClr val="D6E8F7"/>
          </a:solidFill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8328" y="2551176"/>
            <a:ext cx="15179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30A0"/>
                </a:solidFill>
              </a:rPr>
              <a:t>Temp. Scaling
(T=2.70)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429000"/>
            <a:ext cx="164592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8328" y="3502152"/>
            <a:ext cx="15179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Standard
Conformal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3429000"/>
            <a:ext cx="256032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029967" y="3502152"/>
            <a:ext cx="243230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PICP 90%: 90.02%
PICP 95%: 95.01%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3429000"/>
            <a:ext cx="292608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36008" y="3502152"/>
            <a:ext cx="279806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Coverage guarantee
Distribution-free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43800" y="3429000"/>
            <a:ext cx="310896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07808" y="3502152"/>
            <a:ext cx="298094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Fixed-width intervals
Poor conditional coverage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429000"/>
            <a:ext cx="1645920" cy="896112"/>
          </a:xfrm>
          <a:prstGeom prst="rect">
            <a:avLst/>
          </a:prstGeom>
          <a:solidFill>
            <a:srgbClr val="D6E8F7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8328" y="3502152"/>
            <a:ext cx="15179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48"/>
                </a:solidFill>
              </a:rPr>
              <a:t>Standard
Conformal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379976"/>
            <a:ext cx="164592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38328" y="4453128"/>
            <a:ext cx="15179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Adaptive
Conformal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65960" y="4379976"/>
            <a:ext cx="256032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029967" y="4453128"/>
            <a:ext cx="243230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Cond. cov.
[90.0%, 96.2%]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4379976"/>
            <a:ext cx="292608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36008" y="4453128"/>
            <a:ext cx="279806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Node-specific widths
Conditional coverage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43800" y="4379976"/>
            <a:ext cx="310896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607808" y="4453128"/>
            <a:ext cx="298094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Requires σ from MC Dropout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379976"/>
            <a:ext cx="1645920" cy="896112"/>
          </a:xfrm>
          <a:prstGeom prst="rect">
            <a:avLst/>
          </a:prstGeom>
          <a:solidFill>
            <a:srgbClr val="D6E8F7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38328" y="4453128"/>
            <a:ext cx="15179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48"/>
                </a:solidFill>
              </a:rPr>
              <a:t>Adaptive
Conformal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330952"/>
            <a:ext cx="164592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38328" y="5404104"/>
            <a:ext cx="15179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Multi-Model
Ensemble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65960" y="5330952"/>
            <a:ext cx="256032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029967" y="5404104"/>
            <a:ext cx="243230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ρ=0.4333
R²=0.5656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5330952"/>
            <a:ext cx="292608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636008" y="5404104"/>
            <a:ext cx="279806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Complementary signal
No MC overhead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43800" y="5330952"/>
            <a:ext cx="3108960" cy="896112"/>
          </a:xfrm>
          <a:prstGeom prst="rect">
            <a:avLst/>
          </a:prstGeom>
          <a:solidFill>
            <a:srgbClr val="D6E8F7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607808" y="5404104"/>
            <a:ext cx="298094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Weaker than MC Dropout
No accuracy gain over T8 alone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330952"/>
            <a:ext cx="1645920" cy="896112"/>
          </a:xfrm>
          <a:prstGeom prst="rect">
            <a:avLst/>
          </a:prstGeom>
          <a:solidFill>
            <a:srgbClr val="D6E8F7"/>
          </a:solidFill>
          <a:ln w="25400">
            <a:solidFill>
              <a:srgbClr val="E0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38328" y="5404104"/>
            <a:ext cx="15179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020"/>
                </a:solidFill>
              </a:rPr>
              <a:t>Multi-Model
Ensemble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Traffic Context: What is Being Predicted?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Δv = change in traffic volume per road segment after policy intervention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24</a:t>
            </a:r>
          </a:p>
        </p:txBody>
      </p:sp>
      <p:pic>
        <p:nvPicPr>
          <p:cNvPr id="9" name="Picture 8" descr="fig3_featu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532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19. Distribution of 5 input features across 200 training graphs (6.33M node observations). VOL_BASE_CASE and CAPACITY_BASE_CASE are right-skewed (heavy-tailed urban traffic). FREESPEED shows discrete speed limits. LENGTH spans several orders of magnitude.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1430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3A5C"/>
                </a:solidFill>
              </a:rPr>
              <a:t>What is Δv?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The change in traffic volume on each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road segment after a policy applies:</a:t>
            </a:r>
          </a:p>
          <a:p>
            <a:pPr algn="l">
              <a:lnSpc>
                <a:spcPct val="120000"/>
              </a:lnSpc>
            </a:pPr>
            <a:endParaRPr sz="1200" b="0">
              <a:solidFill>
                <a:srgbClr val="1A1A1A"/>
              </a:solidFill>
            </a:endParaRP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  Δv = v_policy − v_baseline  (veh/h)</a:t>
            </a:r>
          </a:p>
          <a:p>
            <a:pPr algn="l">
              <a:lnSpc>
                <a:spcPct val="120000"/>
              </a:lnSpc>
            </a:pPr>
            <a:endParaRPr sz="1200" b="0">
              <a:solidFill>
                <a:srgbClr val="1A1A1A"/>
              </a:solidFill>
            </a:endParaRP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3A5C"/>
                </a:solidFill>
              </a:rPr>
              <a:t>Policy = capacity reduction: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• 10%–100% of road capacity reduced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• Applied to a random subset of roads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• Simulates: lane closures, traffic calming,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  bus-only lanes, congestion pricing...</a:t>
            </a:r>
          </a:p>
          <a:p>
            <a:pPr algn="l">
              <a:lnSpc>
                <a:spcPct val="120000"/>
              </a:lnSpc>
            </a:pPr>
            <a:endParaRPr sz="1200" b="0">
              <a:solidFill>
                <a:srgbClr val="1A1A1A"/>
              </a:solidFill>
            </a:endParaRP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E07020"/>
                </a:solidFill>
              </a:rPr>
              <a:t>Why hard to predict?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• Traffic redistributes across network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• High-flow roads change most but vary most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</a:rPr>
              <a:t>• ρ ≈ 0.74–0.81 (low-flow) vs 0.26–0.41 (high-flow)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Traffic Policy: 3-Tier 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Uncertainty-guided workflow for urban planners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25</a:t>
            </a:r>
          </a:p>
        </p:txBody>
      </p:sp>
      <p:pic>
        <p:nvPicPr>
          <p:cNvPr id="9" name="Picture 8" descr="fig9_policy_expla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13232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8064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20. Uncertainty-guided decision framework. GNN surrogate (T8, S=30) routes each prediction based on MC Dropout σ. Bottom 50% = ACCEPT, 50–90% = FLAG, Top 10% = REJECT for re-simulation.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143000"/>
            <a:ext cx="1097280" cy="15087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0" y="1645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ACCEPT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2520" y="1143000"/>
            <a:ext cx="1737360" cy="150876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12344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48"/>
                </a:solidFill>
              </a:rPr>
              <a:t>Bottom 50% of 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581912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A5C"/>
                </a:solidFill>
              </a:rPr>
              <a:t>MAE ≈ 2.32 veh/h
−41.2%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0" y="1143000"/>
            <a:ext cx="141732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07040" y="1490472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A5C"/>
                </a:solidFill>
              </a:rPr>
              <a:t>Use surrogate output directly
for policy decision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770632"/>
            <a:ext cx="1097280" cy="1508760"/>
          </a:xfrm>
          <a:prstGeom prst="rect">
            <a:avLst/>
          </a:prstGeom>
          <a:solidFill>
            <a:srgbClr val="E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0" y="32735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2770632"/>
            <a:ext cx="1737360" cy="150876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286207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020"/>
                </a:solidFill>
              </a:rPr>
              <a:t>50th–90th percentile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209544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A5C"/>
                </a:solidFill>
              </a:rPr>
              <a:t>Some uncertainty
present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2770632"/>
            <a:ext cx="141732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07040" y="3118104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A5C"/>
                </a:solidFill>
              </a:rPr>
              <a:t>Sensitivity analysis
or cross-check needed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4398264"/>
            <a:ext cx="1097280" cy="1508760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0" y="490118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20" y="4398264"/>
            <a:ext cx="1737360" cy="150876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23960" y="4489704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828"/>
                </a:solidFill>
              </a:rPr>
              <a:t>Top 10% of 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4837176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A5C"/>
                </a:solidFill>
              </a:rPr>
              <a:t>High uncertainty
run full MATSim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4398264"/>
            <a:ext cx="141732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07040" y="4745736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A5C"/>
                </a:solidFill>
              </a:rPr>
              <a:t>Route to full 8-hr
MATSim simulation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Impact for Urban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How this thesis changes the policy evaluation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26</a:t>
            </a:r>
          </a:p>
        </p:txBody>
      </p:sp>
      <p:pic>
        <p:nvPicPr>
          <p:cNvPr id="9" name="Picture 8" descr="t8_error_detection_au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23036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</a:rPr>
              <a:t>Fig: 21. ROC curves for T8 MC Dropout as error detector. AUROC=0.76 (top-10% errors) and 0.74 (top-20% errors) — well above 0.5 random baseline. Model can identify unreliable predictions before a planner acts on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143000"/>
            <a:ext cx="228600" cy="8229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49440" y="1143000"/>
            <a:ext cx="4937760" cy="82296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59168" y="11887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48"/>
                </a:solidFill>
              </a:rPr>
              <a:t>Faster policy screening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48132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Seconds per scenario instead of 8+ hours. Hundreds of alternatives evaluated in hours.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103120"/>
            <a:ext cx="228600" cy="822960"/>
          </a:xfrm>
          <a:prstGeom prst="rect">
            <a:avLst/>
          </a:prstGeom>
          <a:solidFill>
            <a:srgbClr val="266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49440" y="2103120"/>
            <a:ext cx="4937760" cy="82296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59168" y="214883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BB2"/>
                </a:solidFill>
              </a:rPr>
              <a:t>Reliable uncertainty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44144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ρ=0.4820: high-σ roads reliably indicate where model may be wrong. AUROC=0.76 for flagging top-10% errors.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063239"/>
            <a:ext cx="228600" cy="822960"/>
          </a:xfrm>
          <a:prstGeom prst="rect">
            <a:avLst/>
          </a:prstGeom>
          <a:solidFill>
            <a:srgbClr val="E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49440" y="3063239"/>
            <a:ext cx="4937760" cy="82296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59168" y="310895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7020"/>
                </a:solidFill>
              </a:rPr>
              <a:t>Smart resource allocation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340156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Expensive MATSim re-simulation only for top-10% uncertain predictions. 90% of predictions can be accepted or flagged.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4023359"/>
            <a:ext cx="228600" cy="822960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49440" y="4023359"/>
            <a:ext cx="4937760" cy="82296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59168" y="406907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828"/>
                </a:solidFill>
              </a:rPr>
              <a:t>Statistically valid intervals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36168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Conformal prediction gives ±14.68 veh/h interval with 95% coverage guarantee — suitable for formal planning documents.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Summary: Answers to All 4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760720" cy="2423160"/>
          </a:xfrm>
          <a:prstGeom prst="rect">
            <a:avLst/>
          </a:prstGeom>
          <a:solidFill>
            <a:srgbClr val="D6E8F7"/>
          </a:solidFill>
          <a:ln w="25400">
            <a:solidFill>
              <a:srgbClr val="26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760720" cy="384048"/>
          </a:xfrm>
          <a:prstGeom prst="rect">
            <a:avLst/>
          </a:prstGeom>
          <a:solidFill>
            <a:srgbClr val="266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521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1521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MC Dropout Effectiveness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554480"/>
            <a:ext cx="5486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T8 achieves Spearman ρ = 0.4820 (100 test graphs, 3.16M predictions). Consistent per-graph ρ = 0.464 ± 0.023. AUROC = 0.76 for top-10% error detection. Enabling dropout costs only ΔR² = −0.010.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097280"/>
            <a:ext cx="5760720" cy="2423160"/>
          </a:xfrm>
          <a:prstGeom prst="rect">
            <a:avLst/>
          </a:prstGeom>
          <a:solidFill>
            <a:srgbClr val="E0F5E5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097280"/>
            <a:ext cx="5760720" cy="38404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79" y="11521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19" y="11521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MC Dropout vs Ensembles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5486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MC Dropout (ρ=0.4908) outperforms ensemble variance (ρ=0.4370) by +12.3% and multi-model disagreement (ρ=0.4333) by +13.3%. MC Dropout is best and most computationally efficient single method.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5760720" cy="2423160"/>
          </a:xfrm>
          <a:prstGeom prst="rect">
            <a:avLst/>
          </a:prstGeom>
          <a:solidFill>
            <a:srgbClr val="FFF8E0"/>
          </a:solidFill>
          <a:ln w="25400">
            <a:solidFill>
              <a:srgbClr val="C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703320"/>
            <a:ext cx="5760720" cy="384048"/>
          </a:xfrm>
          <a:prstGeom prst="rect">
            <a:avLst/>
          </a:prstGeom>
          <a:solidFill>
            <a:srgbClr val="C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75818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5818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Combining Identical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160520"/>
            <a:ext cx="5486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Combined MC+Ensemble (ρ=0.4909) barely beats MC alone (ρ=0.4908): negligible gain. Multi-model ensemble R²=0.5656 &lt; best single T8 R²=0.5957. Architectural diversity not tested — may unlock further benefits.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703320"/>
            <a:ext cx="5760720" cy="2423160"/>
          </a:xfrm>
          <a:prstGeom prst="rect">
            <a:avLst/>
          </a:prstGeom>
          <a:solidFill>
            <a:srgbClr val="FCE8E8"/>
          </a:solidFill>
          <a:ln w="25400">
            <a:solidFill>
              <a:srgbClr val="C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3703320"/>
            <a:ext cx="5760720" cy="384048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79" y="375818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9" y="375818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Distribution-Free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60520"/>
            <a:ext cx="5486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Yes. Conformal: 90.02% @ 90%, 95.01% @ 95% — guaranteed. Temperature scaling reduces ECE by 82%. Adaptive conformal narrows conditional coverage from [62.9%,98.6%] to [90%,96.2%].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Honest assessment of what this thesis does NOT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532120" cy="1600200"/>
          </a:xfrm>
          <a:prstGeom prst="rect">
            <a:avLst/>
          </a:prstGeom>
          <a:solidFill>
            <a:srgbClr val="D6E8F7"/>
          </a:solidFill>
          <a:ln w="22860">
            <a:solidFill>
              <a:srgbClr val="E0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170432"/>
            <a:ext cx="5312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7020"/>
                </a:solidFill>
              </a:rPr>
              <a:t>10% Data Subset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508760"/>
            <a:ext cx="531266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Only 1,000 of 10,000 available scenarios used. Natterer et al. achieved R²=0.91 with full dataset. Gap from R²=0.60 likely due to 10× less training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097280"/>
            <a:ext cx="5532120" cy="1600200"/>
          </a:xfrm>
          <a:prstGeom prst="rect">
            <a:avLst/>
          </a:prstGeom>
          <a:solidFill>
            <a:srgbClr val="D6E8F7"/>
          </a:solidFill>
          <a:ln w="22860">
            <a:solidFill>
              <a:srgbClr val="C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0488" y="1170432"/>
            <a:ext cx="5312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828"/>
                </a:solidFill>
              </a:rPr>
              <a:t>Single Road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1508760"/>
            <a:ext cx="531266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All experiments on Paris only. Generalisation to other cities, topologies, or policy types not tested. Feature correlation patterns may differ elsewhere.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80360"/>
            <a:ext cx="5532120" cy="1600200"/>
          </a:xfrm>
          <a:prstGeom prst="rect">
            <a:avLst/>
          </a:prstGeom>
          <a:solidFill>
            <a:srgbClr val="D6E8F7"/>
          </a:solidFill>
          <a:ln w="22860">
            <a:solidFill>
              <a:srgbClr val="26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2953512"/>
            <a:ext cx="5312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BB2"/>
                </a:solidFill>
              </a:rPr>
              <a:t>Identical Architecture Ensembles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291840"/>
            <a:ext cx="531266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Ensemble experiments use only PointNetTransfGAT variants. True architectural diversity (GAT + GraphSAGE + GCN) not tested — may unlock further UQ benefits.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880360"/>
            <a:ext cx="5532120" cy="1600200"/>
          </a:xfrm>
          <a:prstGeom prst="rect">
            <a:avLst/>
          </a:prstGeom>
          <a:solidFill>
            <a:srgbClr val="D6E8F7"/>
          </a:solidFill>
          <a:ln w="2286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0488" y="2953512"/>
            <a:ext cx="5312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30A0"/>
                </a:solidFill>
              </a:rPr>
              <a:t>Epistemic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3291840"/>
            <a:ext cx="531266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MC Dropout captures only epistemic (model) uncertainty. Aleatoric (data/noise) uncertainty not separated. T9 heteroscedastic attempt failed (R²=0.02 — variance inflation).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11640312" cy="1600200"/>
          </a:xfrm>
          <a:prstGeom prst="rect">
            <a:avLst/>
          </a:prstGeom>
          <a:solidFill>
            <a:srgbClr val="D6E8F7"/>
          </a:solidFill>
          <a:ln w="228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4736592"/>
            <a:ext cx="11420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6060"/>
                </a:solidFill>
              </a:rPr>
              <a:t>No Non-GNN Baselines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074920"/>
            <a:ext cx="114208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No comparison to random forests, GPs, or MLP ensembles. Unclear if ρ=0.4820 is specific to GNN or achievable by simpler models.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Six directions for extending this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ACCEE"/>
                </a:solidFill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EE"/>
                </a:solidFill>
              </a:rPr>
              <a:t>Technical University of Munich  |  Chair of Urban Transport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ACCEE"/>
                </a:solidFill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3749039" cy="2286000"/>
          </a:xfrm>
          <a:prstGeom prst="rect">
            <a:avLst/>
          </a:prstGeom>
          <a:solidFill>
            <a:srgbClr val="D6E8F7"/>
          </a:solidFill>
          <a:ln w="25400">
            <a:solidFill>
              <a:srgbClr val="266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3749039" cy="384048"/>
          </a:xfrm>
          <a:prstGeom prst="rect">
            <a:avLst/>
          </a:prstGeom>
          <a:solidFill>
            <a:srgbClr val="266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1521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Full 10k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572768"/>
            <a:ext cx="352044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Train on complete 10,000-scenario dataset.
Assess if R² and ρ scale with more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097280"/>
            <a:ext cx="3749039" cy="2286000"/>
          </a:xfrm>
          <a:prstGeom prst="rect">
            <a:avLst/>
          </a:prstGeom>
          <a:solidFill>
            <a:srgbClr val="D6E8F7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1097280"/>
            <a:ext cx="3749039" cy="38404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11521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Architecturally Diverse Ensembles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572768"/>
            <a:ext cx="352044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Combine GAT + GraphSAGE + GCN models.
True diversity may improve UQ beyond ρ=0.4333.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097280"/>
            <a:ext cx="3749039" cy="2286000"/>
          </a:xfrm>
          <a:prstGeom prst="rect">
            <a:avLst/>
          </a:prstGeom>
          <a:solidFill>
            <a:srgbClr val="D6E8F7"/>
          </a:solidFill>
          <a:ln w="25400">
            <a:solidFill>
              <a:srgbClr val="E0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097280"/>
            <a:ext cx="3749039" cy="384048"/>
          </a:xfrm>
          <a:prstGeom prst="rect">
            <a:avLst/>
          </a:prstGeom>
          <a:solidFill>
            <a:srgbClr val="E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1521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Conformal Risk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1572768"/>
            <a:ext cx="352044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Extend to arbitrary loss functions.
Tighter adaptive intervals via conformal risk control.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566160"/>
            <a:ext cx="3749039" cy="2286000"/>
          </a:xfrm>
          <a:prstGeom prst="rect">
            <a:avLst/>
          </a:prstGeom>
          <a:solidFill>
            <a:srgbClr val="D6E8F7"/>
          </a:solidFill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3566160"/>
            <a:ext cx="3749039" cy="38404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6210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Epistemic-Aleatoric Decomposition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041648"/>
            <a:ext cx="352044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Evidential deep learning approach.
Separate model uncertainty from data noise.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3566160"/>
            <a:ext cx="3749039" cy="2286000"/>
          </a:xfrm>
          <a:prstGeom prst="rect">
            <a:avLst/>
          </a:prstGeom>
          <a:solidFill>
            <a:srgbClr val="D6E8F7"/>
          </a:solidFill>
          <a:ln w="25400">
            <a:solidFill>
              <a:srgbClr val="C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60" y="3566160"/>
            <a:ext cx="3749039" cy="384048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400" y="36210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Multi-City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4041648"/>
            <a:ext cx="352044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Test on London, Berlin, Munich networks.
Check generalisability of UQ findings.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566160"/>
            <a:ext cx="3749039" cy="2286000"/>
          </a:xfrm>
          <a:prstGeom prst="rect">
            <a:avLst/>
          </a:prstGeom>
          <a:solidFill>
            <a:srgbClr val="D6E8F7"/>
          </a:solidFill>
          <a:ln w="25400">
            <a:solidFill>
              <a:srgbClr val="0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3566160"/>
            <a:ext cx="3749039" cy="384048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36210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Active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4041648"/>
            <a:ext cx="352044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Use high-σ predictions to select
new MATSim scenarios for training.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3931920"/>
          </a:xfrm>
          <a:prstGeom prst="rect">
            <a:avLst/>
          </a:prstGeom>
          <a:solidFill>
            <a:srgbClr val="0E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6E8F7"/>
                </a:solidFill>
              </a:rPr>
              <a:t>ML Surrogates for Agent-Based Transport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457200" cy="822960"/>
          </a:xfrm>
          <a:prstGeom prst="rect">
            <a:avLst/>
          </a:prstGeom>
          <a:solidFill>
            <a:srgbClr val="266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9105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389888"/>
            <a:ext cx="10927080" cy="822960"/>
          </a:xfrm>
          <a:prstGeom prst="rect">
            <a:avLst/>
          </a:prstGeom>
          <a:solidFill>
            <a:srgbClr val="14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453896"/>
            <a:ext cx="10652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E8F7"/>
                </a:solidFill>
              </a:rPr>
              <a:t>MC Dropout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55648"/>
            <a:ext cx="10652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ρ=0.4820 on 3.16M predictions. Useful ranking signal with AUROC=0.76. Cost to enable: ΔR²=−0.010 (negligible).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22576"/>
            <a:ext cx="457200" cy="822960"/>
          </a:xfrm>
          <a:prstGeom prst="rect">
            <a:avLst/>
          </a:prstGeom>
          <a:solidFill>
            <a:srgbClr val="266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52374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322576"/>
            <a:ext cx="10927080" cy="822960"/>
          </a:xfrm>
          <a:prstGeom prst="rect">
            <a:avLst/>
          </a:prstGeom>
          <a:solidFill>
            <a:srgbClr val="14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386584"/>
            <a:ext cx="10652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E8F7"/>
                </a:solidFill>
              </a:rPr>
              <a:t>Conformal prediction delivers guarantees.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88336"/>
            <a:ext cx="10652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90.02% and 95.01% coverage achieved by construction. Adaptive variant reduces conditional disparity from [62.9%,98.6%] to [90%,96.2%].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55264"/>
            <a:ext cx="457200" cy="822960"/>
          </a:xfrm>
          <a:prstGeom prst="rect">
            <a:avLst/>
          </a:prstGeom>
          <a:solidFill>
            <a:srgbClr val="266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34564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255264"/>
            <a:ext cx="10927080" cy="822960"/>
          </a:xfrm>
          <a:prstGeom prst="rect">
            <a:avLst/>
          </a:prstGeom>
          <a:solidFill>
            <a:srgbClr val="14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319272"/>
            <a:ext cx="10652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E8F7"/>
                </a:solidFill>
              </a:rPr>
              <a:t>Use the 3-layer hierarchy in practice.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21024"/>
            <a:ext cx="10652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MC Dropout for ranking → temperature scaling for calibration → conformal prediction for formal guarantees. All post-hoc, no retraining.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06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Thank you  |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4066</Words>
  <Application>Microsoft Office PowerPoint</Application>
  <PresentationFormat>Custom</PresentationFormat>
  <Paragraphs>617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MOHD ZAMIN QUADRI</cp:lastModifiedBy>
  <cp:revision>2</cp:revision>
  <dcterms:created xsi:type="dcterms:W3CDTF">2013-01-27T09:14:16Z</dcterms:created>
  <dcterms:modified xsi:type="dcterms:W3CDTF">2026-03-30T20:13:53Z</dcterms:modified>
  <cp:category/>
</cp:coreProperties>
</file>