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91695" cy="54864"/>
          </a:xfrm>
          <a:prstGeom prst="rect">
            <a:avLst/>
          </a:prstGeom>
          <a:solidFill>
            <a:srgbClr val="98C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Uncertainty Quantification for Graph Neural</a:t>
            </a:r>
            <a:br/>
            <a:r>
              <a:t>Network Surrogates of Agent-Based</a:t>
            </a:r>
            <a:br/>
            <a:r>
              <a:t>Transport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8C6EA"/>
                </a:solidFill>
                <a:latin typeface="Calibri"/>
              </a:defRPr>
            </a:pPr>
            <a:r>
              <a:t>Mohd Zamin Quadri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8C6EA"/>
                </a:solidFill>
                <a:latin typeface="Calibri"/>
              </a:defRPr>
            </a:pPr>
            <a:r>
              <a:t>M.Sc. Mathematics in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Examiner: Prof. Dr. Stephan Guennemann</a:t>
            </a:r>
            <a:br/>
            <a:r>
              <a:t>Advisors: Dominik Fuchsgruber M.Sc., Elena Natterer M.Sc.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Data Analytics and Machine Learning (DAML) Group, TUM</a:t>
            </a:r>
          </a:p>
        </p:txBody>
      </p:sp>
      <p:pic>
        <p:nvPicPr>
          <p:cNvPr id="9" name="Picture 8" descr="t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74320"/>
            <a:ext cx="2100057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1.  Motivation &amp; Problem Statement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2.  Data &amp; Architecture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3.  Methodology: UQ Methods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4.  Predictive Performance (Trials 1-8)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5.  MC Dropout Uncertainty Quality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6.  Calibration &amp; Temperature Scaling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7.  Conformal Prediction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8.  Selective Prediction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9.  Proper Scoring Rules (CRPS, PIT, Winkler)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10. Ensemble Investigation (Negative Result)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11. Cross-Trial Validation &amp; S-Convergence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12. Key Findings &amp; Contributions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13. Limitations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Motivation: Why Uncertainty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3/22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Agent-based transport simulations (MATSim): hours per scenario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GNN surrogates: seconds per scenario, but how reliable?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Urban planners need to know where predictions may fail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Without UQ: planners may unknowingly base infrastructure decisions on unreliable predictions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333333"/>
                </a:solidFill>
                <a:latin typeface="Calibri"/>
              </a:rPr>
              <a:t>This thesis: systematic UQ evaluation for GNN traffic surrogates</a:t>
            </a:r>
          </a:p>
        </p:txBody>
      </p:sp>
      <p:pic>
        <p:nvPicPr>
          <p:cNvPr id="7" name="Picture 6" descr="fig6_with_without_u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754880" cy="25237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4/22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065BD"/>
                </a:solidFill>
                <a:latin typeface="Calibri"/>
              </a:rPr>
              <a:t>RQ1: </a:t>
            </a:r>
            <a:r>
              <a:rPr sz="2000">
                <a:solidFill>
                  <a:srgbClr val="333333"/>
                </a:solidFill>
                <a:latin typeface="Calibri"/>
              </a:rPr>
              <a:t>How effectively does MC Dropout capture epistemic uncertainty in GNN-based traffic surrogates?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065BD"/>
                </a:solidFill>
                <a:latin typeface="Calibri"/>
              </a:rPr>
              <a:t>RQ2: </a:t>
            </a:r>
            <a:r>
              <a:rPr sz="2000">
                <a:solidFill>
                  <a:srgbClr val="333333"/>
                </a:solidFill>
                <a:latin typeface="Calibri"/>
              </a:rPr>
              <a:t>How does MC Dropout compare to ensemble-based UQ in terms of uncertainty quality and computational cost?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065BD"/>
                </a:solidFill>
                <a:latin typeface="Calibri"/>
              </a:rPr>
              <a:t>RQ3: </a:t>
            </a:r>
            <a:r>
              <a:rPr sz="2000">
                <a:solidFill>
                  <a:srgbClr val="333333"/>
                </a:solidFill>
                <a:latin typeface="Calibri"/>
              </a:rPr>
              <a:t>Does combining uncertainty from architecturally identical models provide benefits over single-model UQ?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065BD"/>
                </a:solidFill>
                <a:latin typeface="Calibri"/>
              </a:rPr>
              <a:t>RQ4: </a:t>
            </a:r>
            <a:r>
              <a:rPr sz="2000">
                <a:solidFill>
                  <a:srgbClr val="333333"/>
                </a:solidFill>
                <a:latin typeface="Calibri"/>
              </a:rPr>
              <a:t>Can distribution-free methods (conformal prediction, post-hoc calibration) transform raw uncertainty into trustworthy prediction intervals?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Data: Paris Road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5/22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Source: MATSim agent-based simulation (Natterer et al. 2025)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10,000 policy scenarios; this thesis uses 1,000 (10% subset)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Each scenario = one static graph (no temporal dimension)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31,635 nodes (road segments), 5 features per node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Target: change in traffic volume (veh/h) after policy intervention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Split: 800 train / 100 val / 100 test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Test set: 100 graphs x 31,635 nodes = 3,163,500 predictions</a:t>
            </a:r>
          </a:p>
        </p:txBody>
      </p:sp>
      <p:pic>
        <p:nvPicPr>
          <p:cNvPr id="7" name="Picture 6" descr="fig_network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5029200" cy="28745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Architecture: PointNetTransfGAT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6/22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2 PointNetConv layers (512, 128 channels): encode geometry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2 TransformerConv layers (256, 512 channels, 4 heads): long-range attention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2 GATConv layers (64, 1 channel): final embedding + prediction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Dropout (p=0.2 for T8) applied throughout for MC Dropout UQ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8 trial configurations tested (varying dropout, LR, batch size, data split)</a:t>
            </a:r>
          </a:p>
        </p:txBody>
      </p:sp>
      <p:pic>
        <p:nvPicPr>
          <p:cNvPr id="7" name="Picture 6" descr="fig8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0"/>
            <a:ext cx="10515600" cy="36348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8C6EA"/>
                </a:solidFill>
                <a:latin typeface="Calibri"/>
              </a:defRPr>
            </a:pPr>
            <a:r>
              <a:t>Six UQ approaches evaluated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UQ Methods: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8/22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MC Dropout (S=30): </a:t>
            </a:r>
            <a:r>
              <a:rPr sz="1700" b="0">
                <a:solidFill>
                  <a:srgbClr val="333333"/>
                </a:solidFill>
                <a:latin typeface="Calibri"/>
              </a:rPr>
              <a:t>multiple stochastic forward passes at inference; mean = prediction, std = uncertainty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Deep Ensembles: </a:t>
            </a:r>
            <a:r>
              <a:rPr sz="1700" b="0">
                <a:solidFill>
                  <a:srgbClr val="333333"/>
                </a:solidFill>
                <a:latin typeface="Calibri"/>
              </a:rPr>
              <a:t>train M independent models, use variance across predictions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Combined Uncertainty: </a:t>
            </a:r>
            <a:r>
              <a:rPr sz="1700" b="0">
                <a:solidFill>
                  <a:srgbClr val="333333"/>
                </a:solidFill>
                <a:latin typeface="Calibri"/>
              </a:rPr>
              <a:t>merge MC Dropout + ensemble variance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Split Conformal Prediction: </a:t>
            </a:r>
            <a:r>
              <a:rPr sz="1700" b="0">
                <a:solidFill>
                  <a:srgbClr val="333333"/>
                </a:solidFill>
                <a:latin typeface="Calibri"/>
              </a:rPr>
              <a:t>distribution-free coverage guarantee via calibration quantile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Selective Prediction: </a:t>
            </a:r>
            <a:r>
              <a:rPr sz="1700" b="0">
                <a:solidFill>
                  <a:srgbClr val="333333"/>
                </a:solidFill>
                <a:latin typeface="Calibri"/>
              </a:rPr>
              <a:t>rank by uncertainty, retain most confident subset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333333"/>
                </a:solidFill>
                <a:latin typeface="Calibri"/>
              </a:rPr>
              <a:t>Temperature Scaling: </a:t>
            </a:r>
            <a:r>
              <a:rPr sz="1700" b="0">
                <a:solidFill>
                  <a:srgbClr val="333333"/>
                </a:solidFill>
                <a:latin typeface="Calibri"/>
              </a:rPr>
              <a:t>post-hoc single-parameter calibration of predictive distribution</a:t>
            </a:r>
          </a:p>
        </p:txBody>
      </p:sp>
      <p:pic>
        <p:nvPicPr>
          <p:cNvPr id="7" name="Picture 6" descr="fig13_mc_dropout_in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114800"/>
            <a:ext cx="3931920" cy="12448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Predictive Performance: Trial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9/22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T1 (no dropout, Linear head): R2 = 0.7860, MAE = 2.97 veh/h -- but no UQ possible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T8 (best UQ-compatible): R2 = 0.5957, MAE = 3.96, RMSE = 7.12 veh/h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T3-T4 (weighted loss): R2 = 0.22-0.24 -- weighted MSE did not help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T8 selected for all UQ experiments (best among dropout-enabled trials)</a:t>
            </a:r>
          </a:p>
        </p:txBody>
      </p:sp>
      <p:pic>
        <p:nvPicPr>
          <p:cNvPr id="7" name="Picture 6" descr="fig12_trial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31964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Note: Elena's original work (full 10k dataset) achieved R2 = 0.91; this thesis uses 10% subset.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MC Dropout Uncertainty Quality (T8, S=30)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10/22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Spearman rho = 0.4820: moderate positive correlation between predicted uncertainty and actual error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AUROC = 0.7585 for top-10% error detection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Mean uncertainty: 1.37 veh/h (std across 30 forward passes)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Per-graph rho: mean = 0.4643, 95% CI [0.4599, 0.4689] (bootstrap, 100 graphs)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Stable across all 100 test scenarios (no graph-level outliers)</a:t>
            </a:r>
          </a:p>
        </p:txBody>
      </p:sp>
      <p:pic>
        <p:nvPicPr>
          <p:cNvPr id="7" name="Picture 6" descr="fig2_uq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24793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Calibration: Reliability Diagram &amp; Temperature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11/22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Raw MC Dropout sigma is NOT calibrated: ECE = 0.265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Naive Gaussian 95% interval: only 55.6% coverage (should be 95%)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k_95 = 11.34 (need 11.34 sigma, not 1.96 sigma, for 95%)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Temperature scaling (T = 2.70): ECE drops from 0.269 to 0.048 (82% improvement)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Residual gap: scaled 95% interval achieves only 83.3% coverage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Conclusion: ranking is useful, absolute magnitudes require correction</a:t>
            </a:r>
          </a:p>
        </p:txBody>
      </p:sp>
      <p:pic>
        <p:nvPicPr>
          <p:cNvPr id="7" name="Picture 6" descr="t8_temperature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188720"/>
            <a:ext cx="4572000" cy="38611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Conformal Prediction: Coverage Guarantees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12/22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Split conformal: 50 calibration + 50 evaluation graphs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90% level: q = 9.92 veh/h, coverage = 90.02%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95% level: q = 14.68 veh/h, coverage = 95.01%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Audit split (20/80): corroborates at q = 14.77, coverage = 95.1%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Distribution-free: no Gaussian assumption needed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Fixed-width limitation: same interval for all nodes</a:t>
            </a:r>
          </a:p>
        </p:txBody>
      </p:sp>
      <p:pic>
        <p:nvPicPr>
          <p:cNvPr id="7" name="Picture 6" descr="fig14_conforma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15011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Adaptive Conformal: Node-Specific Intervals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13/22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Standard conformal: fixed-width -- over-covers low-uncertainty nodes (98.6%), under-covers high-uncertainty nodes (62.9%)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Adaptive conformal: normalise residuals by MC Dropout sigma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Result: conditional coverage narrows to [90.0%, 96.2%] across deciles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MC Dropout ranking signal carries genuine calibration information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Practical: wider intervals where model is uncertain, narrower where confident</a:t>
            </a:r>
          </a:p>
        </p:txBody>
      </p:sp>
      <p:pic>
        <p:nvPicPr>
          <p:cNvPr id="7" name="Picture 6" descr="t8_conformal_condi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24859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Selective Prediction: Trading Coverage for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14/22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Sort predictions by ascending MC Dropout uncertainty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Retain only the most confident fraction: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  100%: MAE = 3.95 veh/h (baseline)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  90%: MAE = 3.23 veh/h (-18.3%)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  50%: MAE = 2.32 veh/h (-41.2%)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  10%: MAE = 1.16 veh/h (-70.6%)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Monotone improvement confirms uncertainty ranking is meaningful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T7 replication: same pattern (-38.3% at 50%)</a:t>
            </a:r>
          </a:p>
        </p:txBody>
      </p:sp>
      <p:pic>
        <p:nvPicPr>
          <p:cNvPr id="7" name="Picture 6" descr="t8_selective_predic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3085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Proper Scoring Rules: CRPS, PIT, Winkler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15/22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CRPS = 3.38 veh/h; CRPS/MAE = 0.857 (theoretical optimum 0.707 for perfect Gaussian)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21% above optimum: quantifies calibration cost of underdispersed sigma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PIT histogram: spike at 0 (28.4%), U-shaped tails -- systematic underdispersion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After temperature scaling: KS drops 0.245 to 0.104 (-57%)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Winkler scores: conformal beats naive Gaussian (32.3 vs 49.7 at 90% level)</a:t>
            </a:r>
          </a:p>
        </p:txBody>
      </p:sp>
      <p:pic>
        <p:nvPicPr>
          <p:cNvPr id="7" name="Picture 6" descr="t8_pit_after_temp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5029200" cy="1960500"/>
          </a:xfrm>
          <a:prstGeom prst="rect">
            <a:avLst/>
          </a:prstGeom>
        </p:spPr>
      </p:pic>
      <p:pic>
        <p:nvPicPr>
          <p:cNvPr id="8" name="Picture 7" descr="t8_interval_width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114800"/>
            <a:ext cx="5029200" cy="2554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Ensemble Investigation: A Documented Negative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16/22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5 independently trained models: all produced R2 ~ 0.003 when loaded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Root cause: PyTorch Geometric GATConv API version mismatch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Checkpoint stores lin.weight (old PyG); current PyG 2.3.1 expects lin_src.weight / lin_dst.weight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strict=False silently drops old keys -- random initialisation of final 2 layers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Within degraded context: MC Dropout rho = 0.16 vs ensemble rho = 0.10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Standalone MC Dropout (correct PyG version): rho = 0.48 -- unaffected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Conclusion: ensemble experiments are inconclusive (RQ3), not a failure of ensembling itself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Robustness: Cross-Trial Validation &amp; S-Convergence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17/22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T7 replication: rho = 0.4460, selective prediction -38.3% at 50%, conformal 95.3% coverage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Same qualitative conclusions hold across both trials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S-convergence: S=30 rho = 0.4584, S=50 rho = 0.4632 (&lt;1% improvement)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Curve flattens sharply after S ~ 25: S=30 is cost-optimal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Inference time: 228 min total (S=30 x 100 graphs) -- manageable overhead</a:t>
            </a:r>
          </a:p>
        </p:txBody>
      </p:sp>
      <p:pic>
        <p:nvPicPr>
          <p:cNvPr id="7" name="Picture 6" descr="t8_s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846320" cy="308944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Key Findings &amp;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8C6EA"/>
                </a:solidFill>
                <a:latin typeface="Calibri"/>
              </a:defRPr>
            </a:pPr>
            <a:r>
              <a:t>Answering RQ1-RQ4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18/22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Answers to 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19/22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065BD"/>
                </a:solidFill>
                <a:latin typeface="Calibri"/>
              </a:rPr>
              <a:t>RQ1: </a:t>
            </a:r>
            <a:r>
              <a:rPr sz="1800" b="1">
                <a:solidFill>
                  <a:srgbClr val="388E3C"/>
                </a:solidFill>
                <a:latin typeface="Calibri"/>
              </a:rPr>
              <a:t>Yes. </a:t>
            </a:r>
            <a:r>
              <a:rPr sz="1600">
                <a:solidFill>
                  <a:srgbClr val="333333"/>
                </a:solidFill>
                <a:latin typeface="Calibri"/>
              </a:rPr>
              <a:t>MC Dropout captures meaningful uncertainty: rho = 0.4820, selective prediction -41.2% MAE at 50% retention, AUROC = 0.76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5BD"/>
                </a:solidFill>
                <a:latin typeface="Calibri"/>
              </a:rPr>
              <a:t>RQ2: </a:t>
            </a:r>
            <a:r>
              <a:rPr sz="1800" b="1">
                <a:solidFill>
                  <a:srgbClr val="388E3C"/>
                </a:solidFill>
                <a:latin typeface="Calibri"/>
              </a:rPr>
              <a:t>Yes. </a:t>
            </a:r>
            <a:r>
              <a:rPr sz="1600">
                <a:solidFill>
                  <a:srgbClr val="333333"/>
                </a:solidFill>
                <a:latin typeface="Calibri"/>
              </a:rPr>
              <a:t>MC Dropout outperforms ensemble variance (rho 0.16 vs 0.10 in degraded context), at lower cost. Standalone rho = 0.48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5BD"/>
                </a:solidFill>
                <a:latin typeface="Calibri"/>
              </a:rPr>
              <a:t>RQ3: </a:t>
            </a:r>
            <a:r>
              <a:rPr sz="1800" b="1">
                <a:solidFill>
                  <a:srgbClr val="C4312F"/>
                </a:solidFill>
                <a:latin typeface="Calibri"/>
              </a:rPr>
              <a:t>Inconclusive. </a:t>
            </a:r>
            <a:r>
              <a:rPr sz="1600">
                <a:solidFill>
                  <a:srgbClr val="333333"/>
                </a:solidFill>
                <a:latin typeface="Calibri"/>
              </a:rPr>
              <a:t>PyG loading bug invalidated all ensemble results. Identical-architecture ensembles remain untested under correct conditions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5BD"/>
                </a:solidFill>
                <a:latin typeface="Calibri"/>
              </a:rPr>
              <a:t>RQ4: </a:t>
            </a:r>
            <a:r>
              <a:rPr sz="1800" b="1">
                <a:solidFill>
                  <a:srgbClr val="388E3C"/>
                </a:solidFill>
                <a:latin typeface="Calibri"/>
              </a:rPr>
              <a:t>Yes. </a:t>
            </a:r>
            <a:r>
              <a:rPr sz="1600">
                <a:solidFill>
                  <a:srgbClr val="333333"/>
                </a:solidFill>
                <a:latin typeface="Calibri"/>
              </a:rPr>
              <a:t>Conformal prediction: 95.01% coverage. Temperature scaling: 82% ECE reduction. Adaptive conformal: [90.0%, 96.2%] conditional coverage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Practical Recommendation: Three-Level UQ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20/22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Level 1 -- MC Dropout (S=30, dropout=0.2): </a:t>
            </a:r>
            <a:r>
              <a:rPr sz="1800" b="0">
                <a:solidFill>
                  <a:srgbClr val="333333"/>
                </a:solidFill>
                <a:latin typeface="Calibri"/>
              </a:rPr>
              <a:t>per-node uncertainty ranking for screening unreliable predictions. Use for selective prediction.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Level 2 -- Temperature Scaling (T=2.70): </a:t>
            </a:r>
            <a:r>
              <a:rPr sz="1800" b="0">
                <a:solidFill>
                  <a:srgbClr val="333333"/>
                </a:solidFill>
                <a:latin typeface="Calibri"/>
              </a:rPr>
              <a:t>post-hoc calibration, reduces ECE by 82%. Improves absolute sigma interpretation at no cost.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Level 3 -- Conformal Prediction: </a:t>
            </a:r>
            <a:r>
              <a:rPr sz="1800" b="0">
                <a:solidFill>
                  <a:srgbClr val="333333"/>
                </a:solidFill>
                <a:latin typeface="Calibri"/>
              </a:rPr>
              <a:t>formal coverage guarantee (95.01%). Use when contractual or operational coverage is required.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Adaptive Conformal: </a:t>
            </a:r>
            <a:r>
              <a:rPr sz="1800" b="0">
                <a:solidFill>
                  <a:srgbClr val="333333"/>
                </a:solidFill>
                <a:latin typeface="Calibri"/>
              </a:rPr>
              <a:t>combines Levels 1+3 for node-specific intervals with both ranking and coverage properties.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59"/>
                </a:solidFill>
                <a:latin typeface="Calibri"/>
              </a:defRPr>
            </a:pPr>
            <a:r>
              <a:t>Takeaway: All three levels are achievable with the PointNetTransfGAT architecture at no meaningful cost to predictive accuracy.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0065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21/22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Single network (Paris) -- generalisation to other cities untested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10% data subset (1,000 / 10,000 scenarios) -- full dataset may improve R2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No non-GNN baselines for comparison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Ensemble experiments invalidated by PyG bug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MC Dropout provides ranking, not calibrated probabilities (without post-hoc correction)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5BD"/>
                </a:solidFill>
                <a:latin typeface="Calibri"/>
              </a:defRPr>
            </a:pPr>
            <a:r>
              <a:t>Future Directions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Full 10,000-scenario training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Diverse ensembles (GAT + GraphSAGE + GCN)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Conformal risk control (adaptive coverage)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Post-hoc GEBM (Fuchsgruber et al. 2024)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Multi-city validation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Epistemic-aleatoric decomposition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98C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8C6EA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MC Dropout rho = 0.4820  |  Selective prediction: -41.2% MAE at 50%  |  Conformal: 95.01% coverage</a:t>
            </a:r>
            <a:br/>
            <a:r>
              <a:t>Temperature scaling: 82% ECE reduction  |  CRPS/MAE = 0.857  |  S=30 is cost-optimal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Mohd Zamin Quadri  |  M.Sc. Mathematics in Science and Engineering  |  TUM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